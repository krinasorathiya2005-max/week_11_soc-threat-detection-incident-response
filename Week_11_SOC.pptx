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685800"/>
            <a:ext cx="2057400" cy="310896"/>
          </a:xfrm>
          <a:prstGeom prst="roundRect">
            <a:avLst/>
          </a:prstGeom>
          <a:solidFill>
            <a:srgbClr val="192A43"/>
          </a:solidFill>
          <a:ln>
            <a:solidFill>
              <a:srgbClr val="2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94944"/>
            <a:ext cx="2002536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500"/>
              </a:spcAft>
              <a:defRPr sz="900" b="1">
                <a:solidFill>
                  <a:srgbClr val="2DD4DC"/>
                </a:solidFill>
                <a:latin typeface="Aptos"/>
              </a:defRPr>
            </a:pPr>
            <a:r>
              <a:t>WEEK 11 • SOC LAB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0" y="1234440"/>
            <a:ext cx="2926080" cy="4389120"/>
          </a:xfrm>
          <a:prstGeom prst="roundRect">
            <a:avLst/>
          </a:prstGeom>
          <a:solidFill>
            <a:srgbClr val="131F34"/>
          </a:solidFill>
          <a:ln>
            <a:solidFill>
              <a:srgbClr val="19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8823960" y="1828800"/>
            <a:ext cx="2148840" cy="0"/>
          </a:xfrm>
          <a:prstGeom prst="line">
            <a:avLst/>
          </a:prstGeom>
          <a:ln w="12700">
            <a:solidFill>
              <a:srgbClr val="19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823960" y="2487168"/>
            <a:ext cx="2148840" cy="0"/>
          </a:xfrm>
          <a:prstGeom prst="line">
            <a:avLst/>
          </a:prstGeom>
          <a:ln w="12700">
            <a:solidFill>
              <a:srgbClr val="19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823960" y="3145536"/>
            <a:ext cx="2148840" cy="0"/>
          </a:xfrm>
          <a:prstGeom prst="line">
            <a:avLst/>
          </a:prstGeom>
          <a:ln w="12700">
            <a:solidFill>
              <a:srgbClr val="19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823960" y="3803904"/>
            <a:ext cx="2148840" cy="0"/>
          </a:xfrm>
          <a:prstGeom prst="line">
            <a:avLst/>
          </a:prstGeom>
          <a:ln w="12700">
            <a:solidFill>
              <a:srgbClr val="19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823960" y="4462272"/>
            <a:ext cx="2148840" cy="0"/>
          </a:xfrm>
          <a:prstGeom prst="line">
            <a:avLst/>
          </a:prstGeom>
          <a:ln w="12700">
            <a:solidFill>
              <a:srgbClr val="19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9326880" y="1965960"/>
            <a:ext cx="329184" cy="329184"/>
          </a:xfrm>
          <a:prstGeom prst="ellipse">
            <a:avLst/>
          </a:prstGeom>
          <a:solidFill>
            <a:srgbClr val="2DD4DC"/>
          </a:solidFill>
          <a:ln>
            <a:solidFill>
              <a:srgbClr val="2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332720" y="2743200"/>
            <a:ext cx="329184" cy="329184"/>
          </a:xfrm>
          <a:prstGeom prst="ellipse">
            <a:avLst/>
          </a:prstGeom>
          <a:solidFill>
            <a:srgbClr val="4F8CFF"/>
          </a:solidFill>
          <a:ln>
            <a:solidFill>
              <a:srgbClr val="4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0" y="3657600"/>
            <a:ext cx="329184" cy="329184"/>
          </a:xfrm>
          <a:prstGeom prst="ellipse">
            <a:avLst/>
          </a:prstGeom>
          <a:solidFill>
            <a:srgbClr val="AB82FF"/>
          </a:solidFill>
          <a:ln>
            <a:solidFill>
              <a:srgbClr val="AB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4297680"/>
            <a:ext cx="329184" cy="329184"/>
          </a:xfrm>
          <a:prstGeom prst="ellipse">
            <a:avLst/>
          </a:prstGeom>
          <a:solidFill>
            <a:srgbClr val="48D597"/>
          </a:solidFill>
          <a:ln>
            <a:solidFill>
              <a:srgbClr val="48D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966960" y="4892040"/>
            <a:ext cx="329184" cy="329184"/>
          </a:xfrm>
          <a:prstGeom prst="ellipse">
            <a:avLst/>
          </a:prstGeom>
          <a:solidFill>
            <a:srgbClr val="FFBE55"/>
          </a:solidFill>
          <a:ln>
            <a:solidFill>
              <a:srgbClr val="FFB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9491472" y="2267712"/>
            <a:ext cx="914400" cy="548640"/>
          </a:xfrm>
          <a:prstGeom prst="line">
            <a:avLst/>
          </a:prstGeom>
          <a:ln w="25400">
            <a:solidFill>
              <a:srgbClr val="2DD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9765792" y="3072384"/>
            <a:ext cx="640080" cy="658368"/>
          </a:xfrm>
          <a:prstGeom prst="line">
            <a:avLst/>
          </a:prstGeom>
          <a:ln w="25400">
            <a:solidFill>
              <a:srgbClr val="4F8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765792" y="3977639"/>
            <a:ext cx="1024128" cy="429769"/>
          </a:xfrm>
          <a:prstGeom prst="line">
            <a:avLst/>
          </a:prstGeom>
          <a:ln w="25400">
            <a:solidFill>
              <a:srgbClr val="AB8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10131552" y="4617720"/>
            <a:ext cx="658368" cy="320040"/>
          </a:xfrm>
          <a:prstGeom prst="line">
            <a:avLst/>
          </a:prstGeom>
          <a:ln w="25400">
            <a:solidFill>
              <a:srgbClr val="48D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58368" y="1417320"/>
            <a:ext cx="7315200" cy="1554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F1F6FC"/>
                </a:solidFill>
                <a:latin typeface="Aptos"/>
              </a:defRPr>
            </a:pPr>
            <a:r>
              <a:t>THREAT DETECTION,</a:t>
            </a:r>
          </a:p>
          <a:p>
            <a:pPr>
              <a:spcAft>
                <a:spcPts val="500"/>
              </a:spcAft>
              <a:defRPr sz="3000" b="1">
                <a:solidFill>
                  <a:srgbClr val="F1F6FC"/>
                </a:solidFill>
                <a:latin typeface="Aptos"/>
              </a:defRPr>
            </a:pPr>
            <a:r>
              <a:t>ALERT CORRELATION &amp; INCIDENT RESPONSE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246120"/>
            <a:ext cx="6858000" cy="731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2DD4DC"/>
                </a:solidFill>
                <a:latin typeface="Aptos"/>
              </a:defRPr>
            </a:pPr>
            <a:r>
              <a:t>From raw telemetry to evidence-led SOC decisions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160520"/>
            <a:ext cx="67665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A9B8CC"/>
                </a:solidFill>
                <a:latin typeface="Aptos"/>
              </a:defRPr>
            </a:pPr>
            <a:r>
              <a:t>Tools: Wazuh SIEM • Snort IDS • Windows endpoint logs</a:t>
            </a:r>
          </a:p>
          <a:p>
            <a:pPr>
              <a:spcAft>
                <a:spcPts val="500"/>
              </a:spcAft>
              <a:defRPr sz="1500" b="0">
                <a:solidFill>
                  <a:srgbClr val="A9B8CC"/>
                </a:solidFill>
                <a:latin typeface="Aptos"/>
              </a:defRPr>
            </a:pPr>
            <a:r>
              <a:t>Focus: investigate, validate, classify, document, respond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943600"/>
            <a:ext cx="640080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F1F6FC"/>
                </a:solidFill>
                <a:latin typeface="Aptos"/>
              </a:defRPr>
            </a:pPr>
            <a:r>
              <a:t>Prepared for Cyber Security Internship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263640"/>
            <a:ext cx="731520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A9B8CC"/>
                </a:solidFill>
                <a:latin typeface="Aptos"/>
              </a:defRPr>
            </a:pPr>
            <a:r>
              <a:t>Evidence-first approach • Authorized isolated lab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961120" cy="53035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1F6FC"/>
                </a:solidFill>
                <a:latin typeface="Aptos"/>
              </a:defRPr>
            </a:pPr>
            <a:r>
              <a:t>01 | Objectives &amp; Scope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46920" y="310896"/>
            <a:ext cx="1965960" cy="310896"/>
          </a:xfrm>
          <a:prstGeom prst="roundRect">
            <a:avLst/>
          </a:prstGeom>
          <a:solidFill>
            <a:srgbClr val="192A43"/>
          </a:solidFill>
          <a:ln>
            <a:solidFill>
              <a:srgbClr val="2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74352" y="320040"/>
            <a:ext cx="1911095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500"/>
              </a:spcAft>
              <a:defRPr sz="900" b="1">
                <a:solidFill>
                  <a:srgbClr val="2DD4DC"/>
                </a:solidFill>
                <a:latin typeface="Aptos"/>
              </a:defRPr>
            </a:pPr>
            <a:r>
              <a:t>OVERVIEW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868680"/>
            <a:ext cx="11183112" cy="0"/>
          </a:xfrm>
          <a:prstGeom prst="line">
            <a:avLst/>
          </a:prstGeom>
          <a:ln w="12700">
            <a:solidFill>
              <a:srgbClr val="19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0352" y="6510528"/>
            <a:ext cx="68580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A9B8CC"/>
                </a:solidFill>
                <a:latin typeface="Aptos"/>
              </a:defRPr>
            </a:pPr>
            <a:r>
              <a:t>CYBER SECURITY INTERNSHIP • WEEK 11 SOC 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A9B8CC"/>
                </a:solidFill>
                <a:latin typeface="Aptos"/>
              </a:defRPr>
            </a:pPr>
            <a:r>
              <a:t>02/15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143000"/>
            <a:ext cx="3520440" cy="1965960"/>
          </a:xfrm>
          <a:prstGeom prst="roundRect">
            <a:avLst/>
          </a:prstGeom>
          <a:solidFill>
            <a:srgbClr val="131F34"/>
          </a:solidFill>
          <a:ln>
            <a:solidFill>
              <a:srgbClr val="19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143000"/>
            <a:ext cx="64008" cy="1965960"/>
          </a:xfrm>
          <a:prstGeom prst="rect">
            <a:avLst/>
          </a:prstGeom>
          <a:solidFill>
            <a:srgbClr val="2DD4DC"/>
          </a:solidFill>
          <a:ln>
            <a:solidFill>
              <a:srgbClr val="2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271016"/>
            <a:ext cx="320040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DD4DC"/>
                </a:solidFill>
                <a:latin typeface="Aptos"/>
              </a:defRPr>
            </a:pPr>
            <a:r>
              <a:t>COLLECT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709928"/>
            <a:ext cx="3200400" cy="130759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F1F6FC"/>
                </a:solidFill>
                <a:latin typeface="Aptos"/>
              </a:defRPr>
            </a:pPr>
            <a:r>
              <a:t>Review endpoint telemetry, authentication events, file changes, system events and network IDS alerts.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143000"/>
            <a:ext cx="3520440" cy="1965960"/>
          </a:xfrm>
          <a:prstGeom prst="roundRect">
            <a:avLst/>
          </a:prstGeom>
          <a:solidFill>
            <a:srgbClr val="131F34"/>
          </a:solidFill>
          <a:ln>
            <a:solidFill>
              <a:srgbClr val="19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143000"/>
            <a:ext cx="64008" cy="1965960"/>
          </a:xfrm>
          <a:prstGeom prst="rect">
            <a:avLst/>
          </a:prstGeom>
          <a:solidFill>
            <a:srgbClr val="4F8CFF"/>
          </a:solidFill>
          <a:ln>
            <a:solidFill>
              <a:srgbClr val="4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1271016"/>
            <a:ext cx="320040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4F8CFF"/>
                </a:solidFill>
                <a:latin typeface="Aptos"/>
              </a:defRPr>
            </a:pPr>
            <a:r>
              <a:t>CORRELATE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1709928"/>
            <a:ext cx="3200400" cy="130759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F1F6FC"/>
                </a:solidFill>
                <a:latin typeface="Aptos"/>
              </a:defRPr>
            </a:pPr>
            <a:r>
              <a:t>Compare timestamps, source/destination context, accounts, event IDs, Wazuh rules and Snort SIDs.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1" y="1143000"/>
            <a:ext cx="3520440" cy="1965960"/>
          </a:xfrm>
          <a:prstGeom prst="roundRect">
            <a:avLst/>
          </a:prstGeom>
          <a:solidFill>
            <a:srgbClr val="131F34"/>
          </a:solidFill>
          <a:ln>
            <a:solidFill>
              <a:srgbClr val="19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28431" y="1143000"/>
            <a:ext cx="64008" cy="1965960"/>
          </a:xfrm>
          <a:prstGeom prst="rect">
            <a:avLst/>
          </a:prstGeom>
          <a:solidFill>
            <a:srgbClr val="AB82FF"/>
          </a:solidFill>
          <a:ln>
            <a:solidFill>
              <a:srgbClr val="AB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1311" y="1271016"/>
            <a:ext cx="320040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AB82FF"/>
                </a:solidFill>
                <a:latin typeface="Aptos"/>
              </a:defRPr>
            </a:pPr>
            <a:r>
              <a:t>RESPOND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1311" y="1709928"/>
            <a:ext cx="3200400" cy="130759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F1F6FC"/>
                </a:solidFill>
                <a:latin typeface="Aptos"/>
              </a:defRPr>
            </a:pPr>
            <a:r>
              <a:t>Assess severity, record IOCs, create an incident ticket and follow practical response playbooks.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474720"/>
            <a:ext cx="10954512" cy="2331720"/>
          </a:xfrm>
          <a:prstGeom prst="roundRect">
            <a:avLst/>
          </a:prstGeom>
          <a:solidFill>
            <a:srgbClr val="192A43"/>
          </a:solidFill>
          <a:ln>
            <a:solidFill>
              <a:srgbClr val="19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730752"/>
            <a:ext cx="28346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2DD4DC"/>
                </a:solidFill>
                <a:latin typeface="Aptos"/>
              </a:defRPr>
            </a:pPr>
            <a:r>
              <a:t>Definition of done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187952"/>
            <a:ext cx="4892040" cy="1325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F1F6FC"/>
                </a:solidFill>
                <a:latin typeface="Aptos"/>
              </a:defRPr>
            </a:pPr>
            <a:r>
              <a:t>•  At least 10 genuine security events/screenshots</a:t>
            </a:r>
          </a:p>
          <a:p>
            <a:pPr>
              <a:spcAft>
                <a:spcPts val="700"/>
              </a:spcAft>
              <a:defRPr sz="1400">
                <a:solidFill>
                  <a:srgbClr val="F1F6FC"/>
                </a:solidFill>
                <a:latin typeface="Aptos"/>
              </a:defRPr>
            </a:pPr>
            <a:r>
              <a:t>•  At least 15 alerts classified with rationale</a:t>
            </a:r>
          </a:p>
          <a:p>
            <a:pPr>
              <a:spcAft>
                <a:spcPts val="700"/>
              </a:spcAft>
              <a:defRPr sz="1400">
                <a:solidFill>
                  <a:srgbClr val="F1F6FC"/>
                </a:solidFill>
                <a:latin typeface="Aptos"/>
              </a:defRPr>
            </a:pPr>
            <a:r>
              <a:t>•  One evidence-backed investigation and incident ticket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7952"/>
            <a:ext cx="4983480" cy="13258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F1F6FC"/>
                </a:solidFill>
                <a:latin typeface="Aptos"/>
              </a:defRPr>
            </a:pPr>
            <a:r>
              <a:t>•  Three response playbooks completed</a:t>
            </a:r>
          </a:p>
          <a:p>
            <a:pPr>
              <a:spcAft>
                <a:spcPts val="700"/>
              </a:spcAft>
              <a:defRPr sz="1400">
                <a:solidFill>
                  <a:srgbClr val="F1F6FC"/>
                </a:solidFill>
                <a:latin typeface="Aptos"/>
              </a:defRPr>
            </a:pPr>
            <a:r>
              <a:t>•  Snort/Wazuh match or documented correlation gap</a:t>
            </a:r>
          </a:p>
          <a:p>
            <a:pPr>
              <a:spcAft>
                <a:spcPts val="700"/>
              </a:spcAft>
              <a:defRPr sz="1400">
                <a:solidFill>
                  <a:srgbClr val="F1F6FC"/>
                </a:solidFill>
                <a:latin typeface="Aptos"/>
              </a:defRPr>
            </a:pPr>
            <a:r>
              <a:t>•  Accurate timestamps, scope and limitations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989320"/>
            <a:ext cx="1051560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FFBE55"/>
                </a:solidFill>
                <a:latin typeface="Aptos"/>
              </a:defRPr>
            </a:pPr>
            <a:r>
              <a:t>Safety: use only systems you own or have explicit permission to assess.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961120" cy="53035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1F6FC"/>
                </a:solidFill>
                <a:latin typeface="Aptos"/>
              </a:defRPr>
            </a:pPr>
            <a:r>
              <a:t>02 | Lab Architecture &amp; Telemetry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46920" y="310896"/>
            <a:ext cx="1965960" cy="310896"/>
          </a:xfrm>
          <a:prstGeom prst="roundRect">
            <a:avLst/>
          </a:prstGeom>
          <a:solidFill>
            <a:srgbClr val="192A43"/>
          </a:solidFill>
          <a:ln>
            <a:solidFill>
              <a:srgbClr val="2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74352" y="320040"/>
            <a:ext cx="1911095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500"/>
              </a:spcAft>
              <a:defRPr sz="900" b="1">
                <a:solidFill>
                  <a:srgbClr val="2DD4DC"/>
                </a:solidFill>
                <a:latin typeface="Aptos"/>
              </a:defRPr>
            </a:pPr>
            <a:r>
              <a:t>ARCHITECTURE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868680"/>
            <a:ext cx="11183112" cy="0"/>
          </a:xfrm>
          <a:prstGeom prst="line">
            <a:avLst/>
          </a:prstGeom>
          <a:ln w="12700">
            <a:solidFill>
              <a:srgbClr val="19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0352" y="6510528"/>
            <a:ext cx="68580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A9B8CC"/>
                </a:solidFill>
                <a:latin typeface="Aptos"/>
              </a:defRPr>
            </a:pPr>
            <a:r>
              <a:t>CYBER SECURITY INTERNSHIP • WEEK 11 SOC 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A9B8CC"/>
                </a:solidFill>
                <a:latin typeface="Aptos"/>
              </a:defRPr>
            </a:pPr>
            <a:r>
              <a:t>03/15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2148840" cy="960120"/>
          </a:xfrm>
          <a:prstGeom prst="roundRect">
            <a:avLst/>
          </a:prstGeom>
          <a:solidFill>
            <a:srgbClr val="131F34"/>
          </a:solidFill>
          <a:ln>
            <a:solidFill>
              <a:srgbClr val="4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527048"/>
            <a:ext cx="2002536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4F8CFF"/>
                </a:solidFill>
                <a:latin typeface="Aptos"/>
              </a:defRPr>
            </a:pPr>
            <a:r>
              <a:t>WINDOWS ENDPOINT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56232"/>
            <a:ext cx="196596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500"/>
              </a:spcAft>
              <a:defRPr sz="900" b="0">
                <a:solidFill>
                  <a:srgbClr val="F1F6FC"/>
                </a:solidFill>
                <a:latin typeface="Aptos"/>
              </a:defRPr>
            </a:pPr>
            <a:r>
              <a:t>Auth • Process • File events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49039"/>
            <a:ext cx="2148840" cy="960120"/>
          </a:xfrm>
          <a:prstGeom prst="roundRect">
            <a:avLst/>
          </a:prstGeom>
          <a:solidFill>
            <a:srgbClr val="131F34"/>
          </a:solidFill>
          <a:ln>
            <a:solidFill>
              <a:srgbClr val="AB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858768"/>
            <a:ext cx="2002536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AB82FF"/>
                </a:solidFill>
                <a:latin typeface="Aptos"/>
              </a:defRPr>
            </a:pPr>
            <a:r>
              <a:t>NETWORK SENSOR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187952"/>
            <a:ext cx="196596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500"/>
              </a:spcAft>
              <a:defRPr sz="900" b="0">
                <a:solidFill>
                  <a:srgbClr val="F1F6FC"/>
                </a:solidFill>
                <a:latin typeface="Aptos"/>
              </a:defRPr>
            </a:pPr>
            <a:r>
              <a:t>Snort • Packets • SIDs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77639" y="1417320"/>
            <a:ext cx="2240280" cy="960120"/>
          </a:xfrm>
          <a:prstGeom prst="roundRect">
            <a:avLst/>
          </a:prstGeom>
          <a:solidFill>
            <a:srgbClr val="131F34"/>
          </a:solidFill>
          <a:ln>
            <a:solidFill>
              <a:srgbClr val="2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50791" y="1527048"/>
            <a:ext cx="2093976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2DD4DC"/>
                </a:solidFill>
                <a:latin typeface="Aptos"/>
              </a:defRPr>
            </a:pPr>
            <a:r>
              <a:t>WAZUH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79" y="1856232"/>
            <a:ext cx="205740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500"/>
              </a:spcAft>
              <a:defRPr sz="900" b="0">
                <a:solidFill>
                  <a:srgbClr val="F1F6FC"/>
                </a:solidFill>
                <a:latin typeface="Aptos"/>
              </a:defRPr>
            </a:pPr>
            <a:r>
              <a:t>Collect &amp; forward logs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86600" y="1417320"/>
            <a:ext cx="2103120" cy="960120"/>
          </a:xfrm>
          <a:prstGeom prst="roundRect">
            <a:avLst/>
          </a:prstGeom>
          <a:solidFill>
            <a:srgbClr val="131F34"/>
          </a:solidFill>
          <a:ln>
            <a:solidFill>
              <a:srgbClr val="48D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59752" y="1527048"/>
            <a:ext cx="1956815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48D597"/>
                </a:solidFill>
                <a:latin typeface="Aptos"/>
              </a:defRPr>
            </a:pPr>
            <a:r>
              <a:t>WAZUH MANAGER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1856232"/>
            <a:ext cx="1920239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500"/>
              </a:spcAft>
              <a:defRPr sz="900" b="0">
                <a:solidFill>
                  <a:srgbClr val="F1F6FC"/>
                </a:solidFill>
                <a:latin typeface="Aptos"/>
              </a:defRPr>
            </a:pPr>
            <a:r>
              <a:t>Decode • Rules • Alerts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92640" y="1417320"/>
            <a:ext cx="1828800" cy="960120"/>
          </a:xfrm>
          <a:prstGeom prst="roundRect">
            <a:avLst/>
          </a:prstGeom>
          <a:solidFill>
            <a:srgbClr val="131F34"/>
          </a:solidFill>
          <a:ln>
            <a:solidFill>
              <a:srgbClr val="FFB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65792" y="1527048"/>
            <a:ext cx="1682496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FFBE55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1856232"/>
            <a:ext cx="164592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500"/>
              </a:spcAft>
              <a:defRPr sz="900" b="0">
                <a:solidFill>
                  <a:srgbClr val="F1F6FC"/>
                </a:solidFill>
                <a:latin typeface="Aptos"/>
              </a:defRPr>
            </a:pPr>
            <a:r>
              <a:t>Search • Triage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86600" y="3749039"/>
            <a:ext cx="2103120" cy="960120"/>
          </a:xfrm>
          <a:prstGeom prst="roundRect">
            <a:avLst/>
          </a:prstGeom>
          <a:solidFill>
            <a:srgbClr val="131F34"/>
          </a:solidFill>
          <a:ln>
            <a:solidFill>
              <a:srgbClr val="AB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59752" y="3858768"/>
            <a:ext cx="1956815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AB82FF"/>
                </a:solidFill>
                <a:latin typeface="Aptos"/>
              </a:defRPr>
            </a:pPr>
            <a:r>
              <a:t>SNORT ALERT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4187952"/>
            <a:ext cx="1920239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500"/>
              </a:spcAft>
              <a:defRPr sz="900" b="0">
                <a:solidFill>
                  <a:srgbClr val="F1F6FC"/>
                </a:solidFill>
                <a:latin typeface="Aptos"/>
              </a:defRPr>
            </a:pPr>
            <a:r>
              <a:t>Console / log file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92640" y="3749039"/>
            <a:ext cx="1828800" cy="960120"/>
          </a:xfrm>
          <a:prstGeom prst="roundRect">
            <a:avLst/>
          </a:prstGeom>
          <a:solidFill>
            <a:srgbClr val="131F34"/>
          </a:solidFill>
          <a:ln>
            <a:solidFill>
              <a:srgbClr val="2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65792" y="3858768"/>
            <a:ext cx="1682496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2DD4DC"/>
                </a:solidFill>
                <a:latin typeface="Aptos"/>
              </a:defRPr>
            </a:pPr>
            <a:r>
              <a:t>ANALYST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4187952"/>
            <a:ext cx="164592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500"/>
              </a:spcAft>
              <a:defRPr sz="900" b="0">
                <a:solidFill>
                  <a:srgbClr val="F1F6FC"/>
                </a:solidFill>
                <a:latin typeface="Aptos"/>
              </a:defRPr>
            </a:pPr>
            <a:r>
              <a:t>Compare evidence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880360" y="1874519"/>
            <a:ext cx="1097279" cy="0"/>
          </a:xfrm>
          <a:prstGeom prst="line">
            <a:avLst/>
          </a:prstGeom>
          <a:ln w="25400">
            <a:solidFill>
              <a:srgbClr val="4F8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17920" y="1874519"/>
            <a:ext cx="868680" cy="0"/>
          </a:xfrm>
          <a:prstGeom prst="line">
            <a:avLst/>
          </a:prstGeom>
          <a:ln w="25400">
            <a:solidFill>
              <a:srgbClr val="2DD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189720" y="1874519"/>
            <a:ext cx="502920" cy="0"/>
          </a:xfrm>
          <a:prstGeom prst="line">
            <a:avLst/>
          </a:prstGeom>
          <a:ln w="25400">
            <a:solidFill>
              <a:srgbClr val="48D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880360" y="4224528"/>
            <a:ext cx="4206240" cy="0"/>
          </a:xfrm>
          <a:prstGeom prst="line">
            <a:avLst/>
          </a:prstGeom>
          <a:ln w="25400">
            <a:solidFill>
              <a:srgbClr val="AB8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189720" y="4224528"/>
            <a:ext cx="502920" cy="0"/>
          </a:xfrm>
          <a:prstGeom prst="line">
            <a:avLst/>
          </a:prstGeom>
          <a:ln w="25400">
            <a:solidFill>
              <a:srgbClr val="AB8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0607040" y="2377440"/>
            <a:ext cx="0" cy="1371599"/>
          </a:xfrm>
          <a:prstGeom prst="line">
            <a:avLst/>
          </a:prstGeom>
          <a:ln w="12700">
            <a:solidFill>
              <a:srgbClr val="FFBE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731520" y="5166360"/>
            <a:ext cx="10789920" cy="658368"/>
          </a:xfrm>
          <a:prstGeom prst="roundRect">
            <a:avLst/>
          </a:prstGeom>
          <a:solidFill>
            <a:srgbClr val="192A43"/>
          </a:solidFill>
          <a:ln>
            <a:solidFill>
              <a:srgbClr val="19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" y="5321808"/>
            <a:ext cx="1033272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FFBE55"/>
                </a:solidFill>
                <a:latin typeface="Aptos"/>
              </a:defRPr>
            </a:pPr>
            <a:r>
              <a:t>Snort alerts do not automatically appear in Wazuh unless a forwarding/integration path is configured.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5989320"/>
            <a:ext cx="104241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A9B8CC"/>
                </a:solidFill>
                <a:latin typeface="Aptos"/>
              </a:defRPr>
            </a:pPr>
            <a:r>
              <a:t>Replace this conceptual map with your actual VM names, network mode and interface details.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961120" cy="53035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1F6FC"/>
                </a:solidFill>
                <a:latin typeface="Aptos"/>
              </a:defRPr>
            </a:pPr>
            <a:r>
              <a:t>03 | SOC Alert Correlation Fundamentals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46920" y="310896"/>
            <a:ext cx="1965960" cy="310896"/>
          </a:xfrm>
          <a:prstGeom prst="roundRect">
            <a:avLst/>
          </a:prstGeom>
          <a:solidFill>
            <a:srgbClr val="192A43"/>
          </a:solidFill>
          <a:ln>
            <a:solidFill>
              <a:srgbClr val="2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74352" y="320040"/>
            <a:ext cx="1911095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500"/>
              </a:spcAft>
              <a:defRPr sz="900" b="1">
                <a:solidFill>
                  <a:srgbClr val="2DD4DC"/>
                </a:solidFill>
                <a:latin typeface="Aptos"/>
              </a:defRPr>
            </a:pPr>
            <a:r>
              <a:t>CONCEPTS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868680"/>
            <a:ext cx="11183112" cy="0"/>
          </a:xfrm>
          <a:prstGeom prst="line">
            <a:avLst/>
          </a:prstGeom>
          <a:ln w="12700">
            <a:solidFill>
              <a:srgbClr val="19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0352" y="6510528"/>
            <a:ext cx="68580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A9B8CC"/>
                </a:solidFill>
                <a:latin typeface="Aptos"/>
              </a:defRPr>
            </a:pPr>
            <a:r>
              <a:t>CYBER SECURITY INTERNSHIP • WEEK 11 SOC 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A9B8CC"/>
                </a:solidFill>
                <a:latin typeface="Aptos"/>
              </a:defRPr>
            </a:pPr>
            <a:r>
              <a:t>04/15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143000"/>
            <a:ext cx="3520440" cy="1508760"/>
          </a:xfrm>
          <a:prstGeom prst="roundRect">
            <a:avLst/>
          </a:prstGeom>
          <a:solidFill>
            <a:srgbClr val="131F34"/>
          </a:solidFill>
          <a:ln>
            <a:solidFill>
              <a:srgbClr val="19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143000"/>
            <a:ext cx="64008" cy="1508760"/>
          </a:xfrm>
          <a:prstGeom prst="rect">
            <a:avLst/>
          </a:prstGeom>
          <a:solidFill>
            <a:srgbClr val="2DD4DC"/>
          </a:solidFill>
          <a:ln>
            <a:solidFill>
              <a:srgbClr val="2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271016"/>
            <a:ext cx="320040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DD4DC"/>
                </a:solidFill>
                <a:latin typeface="Aptos"/>
              </a:defRPr>
            </a:pPr>
            <a:r>
              <a:t>EVENT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1709928"/>
            <a:ext cx="3200400" cy="85039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F1F6FC"/>
                </a:solidFill>
                <a:latin typeface="Aptos"/>
              </a:defRPr>
            </a:pPr>
            <a:r>
              <a:t>A recorded action: logon, process start, file modification or packet.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143000"/>
            <a:ext cx="3520440" cy="1508760"/>
          </a:xfrm>
          <a:prstGeom prst="roundRect">
            <a:avLst/>
          </a:prstGeom>
          <a:solidFill>
            <a:srgbClr val="131F34"/>
          </a:solidFill>
          <a:ln>
            <a:solidFill>
              <a:srgbClr val="19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143000"/>
            <a:ext cx="64008" cy="1508760"/>
          </a:xfrm>
          <a:prstGeom prst="rect">
            <a:avLst/>
          </a:prstGeom>
          <a:solidFill>
            <a:srgbClr val="4F8CFF"/>
          </a:solidFill>
          <a:ln>
            <a:solidFill>
              <a:srgbClr val="4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271016"/>
            <a:ext cx="320040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4F8CFF"/>
                </a:solidFill>
                <a:latin typeface="Aptos"/>
              </a:defRPr>
            </a:pPr>
            <a:r>
              <a:t>ALERT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1709928"/>
            <a:ext cx="3200400" cy="85039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F1F6FC"/>
                </a:solidFill>
                <a:latin typeface="Aptos"/>
              </a:defRPr>
            </a:pPr>
            <a:r>
              <a:t>A detection generated when telemetry matches a rule or analytic.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143000"/>
            <a:ext cx="3520440" cy="1508760"/>
          </a:xfrm>
          <a:prstGeom prst="roundRect">
            <a:avLst/>
          </a:prstGeom>
          <a:solidFill>
            <a:srgbClr val="131F34"/>
          </a:solidFill>
          <a:ln>
            <a:solidFill>
              <a:srgbClr val="19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143000"/>
            <a:ext cx="64008" cy="1508760"/>
          </a:xfrm>
          <a:prstGeom prst="rect">
            <a:avLst/>
          </a:prstGeom>
          <a:solidFill>
            <a:srgbClr val="FF6474"/>
          </a:solidFill>
          <a:ln>
            <a:solidFill>
              <a:srgbClr val="FF6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271016"/>
            <a:ext cx="320040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F6474"/>
                </a:solidFill>
                <a:latin typeface="Aptos"/>
              </a:defRPr>
            </a:pPr>
            <a:r>
              <a:t>INCIDENT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709928"/>
            <a:ext cx="3200400" cy="85039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F1F6FC"/>
                </a:solidFill>
                <a:latin typeface="Aptos"/>
              </a:defRPr>
            </a:pPr>
            <a:r>
              <a:t>A validated security situation requiring coordinated investigation or response.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2971800"/>
            <a:ext cx="3520440" cy="1828800"/>
          </a:xfrm>
          <a:prstGeom prst="roundRect">
            <a:avLst/>
          </a:prstGeom>
          <a:solidFill>
            <a:srgbClr val="131F34"/>
          </a:solidFill>
          <a:ln>
            <a:solidFill>
              <a:srgbClr val="19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2971800"/>
            <a:ext cx="64008" cy="1828800"/>
          </a:xfrm>
          <a:prstGeom prst="rect">
            <a:avLst/>
          </a:prstGeom>
          <a:solidFill>
            <a:srgbClr val="FFBE55"/>
          </a:solidFill>
          <a:ln>
            <a:solidFill>
              <a:srgbClr val="FFB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" y="3099816"/>
            <a:ext cx="320040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FBE55"/>
                </a:solidFill>
                <a:latin typeface="Aptos"/>
              </a:defRPr>
            </a:pPr>
            <a:r>
              <a:t>FALSE POSITIVE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" y="3538728"/>
            <a:ext cx="3200400" cy="11704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F1F6FC"/>
                </a:solidFill>
                <a:latin typeface="Aptos"/>
              </a:defRPr>
            </a:pPr>
            <a:r>
              <a:t>A detection that looks suspicious but is benign or outside the rule's intended meaning.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2971800"/>
            <a:ext cx="3520440" cy="1828800"/>
          </a:xfrm>
          <a:prstGeom prst="roundRect">
            <a:avLst/>
          </a:prstGeom>
          <a:solidFill>
            <a:srgbClr val="131F34"/>
          </a:solidFill>
          <a:ln>
            <a:solidFill>
              <a:srgbClr val="19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2971800"/>
            <a:ext cx="64008" cy="1828800"/>
          </a:xfrm>
          <a:prstGeom prst="rect">
            <a:avLst/>
          </a:prstGeom>
          <a:solidFill>
            <a:srgbClr val="48D597"/>
          </a:solidFill>
          <a:ln>
            <a:solidFill>
              <a:srgbClr val="48D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26280" y="3099816"/>
            <a:ext cx="320040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48D597"/>
                </a:solidFill>
                <a:latin typeface="Aptos"/>
              </a:defRPr>
            </a:pPr>
            <a:r>
              <a:t>TRUE POSITIVE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3538728"/>
            <a:ext cx="3200400" cy="11704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F1F6FC"/>
                </a:solidFill>
                <a:latin typeface="Aptos"/>
              </a:defRPr>
            </a:pPr>
            <a:r>
              <a:t>The alert correctly identifies activity matching the detection condition; maliciousness still needs context.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2971800"/>
            <a:ext cx="3520440" cy="1828800"/>
          </a:xfrm>
          <a:prstGeom prst="roundRect">
            <a:avLst/>
          </a:prstGeom>
          <a:solidFill>
            <a:srgbClr val="131F34"/>
          </a:solidFill>
          <a:ln>
            <a:solidFill>
              <a:srgbClr val="19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20" y="2971800"/>
            <a:ext cx="64008" cy="1828800"/>
          </a:xfrm>
          <a:prstGeom prst="rect">
            <a:avLst/>
          </a:prstGeom>
          <a:solidFill>
            <a:srgbClr val="AB82FF"/>
          </a:solidFill>
          <a:ln>
            <a:solidFill>
              <a:srgbClr val="AB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0" y="3099816"/>
            <a:ext cx="320040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AB82FF"/>
                </a:solidFill>
                <a:latin typeface="Aptos"/>
              </a:defRPr>
            </a:pPr>
            <a:r>
              <a:t>IOC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3538728"/>
            <a:ext cx="3200400" cy="11704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F1F6FC"/>
                </a:solidFill>
                <a:latin typeface="Aptos"/>
              </a:defRPr>
            </a:pPr>
            <a:r>
              <a:t>An observable clue: IP/domain/hash/account/path or other artifact linked to suspicious activity.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257800"/>
            <a:ext cx="10607040" cy="685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F1F6FC"/>
                </a:solidFill>
                <a:latin typeface="Aptos"/>
              </a:defRPr>
            </a:pPr>
            <a:r>
              <a:t>Correlation principle: align time, identity, host, network context and rule meaning. An alert is a lead—not proof.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961120" cy="53035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1F6FC"/>
                </a:solidFill>
                <a:latin typeface="Aptos"/>
              </a:defRPr>
            </a:pPr>
            <a:r>
              <a:t>04 | Practical Triage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46920" y="310896"/>
            <a:ext cx="1965960" cy="310896"/>
          </a:xfrm>
          <a:prstGeom prst="roundRect">
            <a:avLst/>
          </a:prstGeom>
          <a:solidFill>
            <a:srgbClr val="192A43"/>
          </a:solidFill>
          <a:ln>
            <a:solidFill>
              <a:srgbClr val="2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74352" y="320040"/>
            <a:ext cx="1911095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500"/>
              </a:spcAft>
              <a:defRPr sz="900" b="1">
                <a:solidFill>
                  <a:srgbClr val="2DD4DC"/>
                </a:solidFill>
                <a:latin typeface="Aptos"/>
              </a:defRPr>
            </a:pPr>
            <a:r>
              <a:t>PROCESS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868680"/>
            <a:ext cx="11183112" cy="0"/>
          </a:xfrm>
          <a:prstGeom prst="line">
            <a:avLst/>
          </a:prstGeom>
          <a:ln w="12700">
            <a:solidFill>
              <a:srgbClr val="19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0352" y="6510528"/>
            <a:ext cx="68580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A9B8CC"/>
                </a:solidFill>
                <a:latin typeface="Aptos"/>
              </a:defRPr>
            </a:pPr>
            <a:r>
              <a:t>CYBER SECURITY INTERNSHIP • WEEK 11 SOC 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A9B8CC"/>
                </a:solidFill>
                <a:latin typeface="Aptos"/>
              </a:defRPr>
            </a:pPr>
            <a:r>
              <a:t>05/15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234440"/>
            <a:ext cx="3429000" cy="1508760"/>
          </a:xfrm>
          <a:prstGeom prst="roundRect">
            <a:avLst/>
          </a:prstGeom>
          <a:solidFill>
            <a:srgbClr val="131F34"/>
          </a:solidFill>
          <a:ln>
            <a:solidFill>
              <a:srgbClr val="2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1" y="1399032"/>
            <a:ext cx="566928" cy="310896"/>
          </a:xfrm>
          <a:prstGeom prst="roundRect">
            <a:avLst/>
          </a:prstGeom>
          <a:solidFill>
            <a:srgbClr val="192A43"/>
          </a:solidFill>
          <a:ln>
            <a:solidFill>
              <a:srgbClr val="2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3" y="1408176"/>
            <a:ext cx="512064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500"/>
              </a:spcAft>
              <a:defRPr sz="900" b="1">
                <a:solidFill>
                  <a:srgbClr val="2DD4D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380744"/>
            <a:ext cx="228600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DD4DC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1801368"/>
            <a:ext cx="3017520" cy="29260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1F6FC"/>
                </a:solidFill>
                <a:latin typeface="Aptos"/>
              </a:defRPr>
            </a:pPr>
            <a:r>
              <a:t>What triggered?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2176272"/>
            <a:ext cx="3017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A9B8CC"/>
                </a:solidFill>
                <a:latin typeface="Aptos"/>
              </a:defRPr>
            </a:pPr>
            <a:r>
              <a:t>Rule, source, timestamp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234440"/>
            <a:ext cx="3429000" cy="1508760"/>
          </a:xfrm>
          <a:prstGeom prst="roundRect">
            <a:avLst/>
          </a:prstGeom>
          <a:solidFill>
            <a:srgbClr val="131F34"/>
          </a:solidFill>
          <a:ln>
            <a:solidFill>
              <a:srgbClr val="4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99432" y="1399032"/>
            <a:ext cx="566928" cy="310896"/>
          </a:xfrm>
          <a:prstGeom prst="roundRect">
            <a:avLst/>
          </a:prstGeom>
          <a:solidFill>
            <a:srgbClr val="192A43"/>
          </a:solidFill>
          <a:ln>
            <a:solidFill>
              <a:srgbClr val="4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26864" y="1408176"/>
            <a:ext cx="512064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500"/>
              </a:spcAft>
              <a:defRPr sz="900" b="1">
                <a:solidFill>
                  <a:srgbClr val="4F8C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1380744"/>
            <a:ext cx="228600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4F8CFF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1801368"/>
            <a:ext cx="3017520" cy="29260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1F6FC"/>
                </a:solidFill>
                <a:latin typeface="Aptos"/>
              </a:defRPr>
            </a:pPr>
            <a:r>
              <a:t>Is telemetry reliable?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2176272"/>
            <a:ext cx="3017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A9B8CC"/>
                </a:solidFill>
                <a:latin typeface="Aptos"/>
              </a:defRPr>
            </a:pPr>
            <a:r>
              <a:t>Agent health, time, fields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1234440"/>
            <a:ext cx="3429000" cy="1508760"/>
          </a:xfrm>
          <a:prstGeom prst="roundRect">
            <a:avLst/>
          </a:prstGeom>
          <a:solidFill>
            <a:srgbClr val="131F34"/>
          </a:solidFill>
          <a:ln>
            <a:solidFill>
              <a:srgbClr val="AB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394192" y="1399032"/>
            <a:ext cx="566928" cy="310896"/>
          </a:xfrm>
          <a:prstGeom prst="roundRect">
            <a:avLst/>
          </a:prstGeom>
          <a:solidFill>
            <a:srgbClr val="192A43"/>
          </a:solidFill>
          <a:ln>
            <a:solidFill>
              <a:srgbClr val="AB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21624" y="1408176"/>
            <a:ext cx="512064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500"/>
              </a:spcAft>
              <a:defRPr sz="900" b="1">
                <a:solidFill>
                  <a:srgbClr val="AB82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1380744"/>
            <a:ext cx="228600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AB82FF"/>
                </a:solidFill>
                <a:latin typeface="Aptos"/>
              </a:defRPr>
            </a:pPr>
            <a:r>
              <a:t>ENRICH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1801368"/>
            <a:ext cx="3017520" cy="29260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1F6FC"/>
                </a:solidFill>
                <a:latin typeface="Aptos"/>
              </a:defRPr>
            </a:pPr>
            <a:r>
              <a:t>What else happened?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176272"/>
            <a:ext cx="3017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A9B8CC"/>
                </a:solidFill>
                <a:latin typeface="Aptos"/>
              </a:defRPr>
            </a:pPr>
            <a:r>
              <a:t>Account, host, IP, process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3291840"/>
            <a:ext cx="3429000" cy="1508760"/>
          </a:xfrm>
          <a:prstGeom prst="roundRect">
            <a:avLst/>
          </a:prstGeom>
          <a:solidFill>
            <a:srgbClr val="131F34"/>
          </a:solidFill>
          <a:ln>
            <a:solidFill>
              <a:srgbClr val="48D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04671" y="3456432"/>
            <a:ext cx="566928" cy="310896"/>
          </a:xfrm>
          <a:prstGeom prst="roundRect">
            <a:avLst/>
          </a:prstGeom>
          <a:solidFill>
            <a:srgbClr val="192A43"/>
          </a:solidFill>
          <a:ln>
            <a:solidFill>
              <a:srgbClr val="48D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3" y="3465576"/>
            <a:ext cx="512064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500"/>
              </a:spcAft>
              <a:defRPr sz="900" b="1">
                <a:solidFill>
                  <a:srgbClr val="48D597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3438144"/>
            <a:ext cx="228600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48D597"/>
                </a:solidFill>
                <a:latin typeface="Aptos"/>
              </a:defRPr>
            </a:pPr>
            <a:r>
              <a:t>CORRELATE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59" y="3858768"/>
            <a:ext cx="3017520" cy="29260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1F6FC"/>
                </a:solidFill>
                <a:latin typeface="Aptos"/>
              </a:defRPr>
            </a:pPr>
            <a:r>
              <a:t>Any related evidence?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59" y="4233672"/>
            <a:ext cx="3017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A9B8CC"/>
                </a:solidFill>
                <a:latin typeface="Aptos"/>
              </a:defRPr>
            </a:pPr>
            <a:r>
              <a:t>Wazuh + Snort + local logs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34840" y="3291840"/>
            <a:ext cx="3429000" cy="1508760"/>
          </a:xfrm>
          <a:prstGeom prst="roundRect">
            <a:avLst/>
          </a:prstGeom>
          <a:solidFill>
            <a:srgbClr val="131F34"/>
          </a:solidFill>
          <a:ln>
            <a:solidFill>
              <a:srgbClr val="FFB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99432" y="3456432"/>
            <a:ext cx="566928" cy="310896"/>
          </a:xfrm>
          <a:prstGeom prst="roundRect">
            <a:avLst/>
          </a:prstGeom>
          <a:solidFill>
            <a:srgbClr val="192A43"/>
          </a:solidFill>
          <a:ln>
            <a:solidFill>
              <a:srgbClr val="FFB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26864" y="3465576"/>
            <a:ext cx="512064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500"/>
              </a:spcAft>
              <a:defRPr sz="900" b="1">
                <a:solidFill>
                  <a:srgbClr val="FFBE55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0" y="3438144"/>
            <a:ext cx="228600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FBE55"/>
                </a:solidFill>
                <a:latin typeface="Aptos"/>
              </a:defRPr>
            </a:pPr>
            <a:r>
              <a:t>DECIDE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7720" y="3858768"/>
            <a:ext cx="3017520" cy="29260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1F6FC"/>
                </a:solidFill>
                <a:latin typeface="Aptos"/>
              </a:defRPr>
            </a:pPr>
            <a:r>
              <a:t>What is the risk?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17720" y="4233672"/>
            <a:ext cx="3017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A9B8CC"/>
                </a:solidFill>
                <a:latin typeface="Aptos"/>
              </a:defRPr>
            </a:pPr>
            <a:r>
              <a:t>Severity, confidence, scope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0" y="3291840"/>
            <a:ext cx="3429000" cy="1508760"/>
          </a:xfrm>
          <a:prstGeom prst="roundRect">
            <a:avLst/>
          </a:prstGeom>
          <a:solidFill>
            <a:srgbClr val="131F34"/>
          </a:solidFill>
          <a:ln>
            <a:solidFill>
              <a:srgbClr val="FF6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394192" y="3456432"/>
            <a:ext cx="566928" cy="310896"/>
          </a:xfrm>
          <a:prstGeom prst="roundRect">
            <a:avLst/>
          </a:prstGeom>
          <a:solidFill>
            <a:srgbClr val="192A43"/>
          </a:solidFill>
          <a:ln>
            <a:solidFill>
              <a:srgbClr val="FF6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21624" y="3465576"/>
            <a:ext cx="512064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500"/>
              </a:spcAft>
              <a:defRPr sz="900" b="1">
                <a:solidFill>
                  <a:srgbClr val="FF6474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8280" y="3438144"/>
            <a:ext cx="228600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F6474"/>
                </a:solidFill>
                <a:latin typeface="Aptos"/>
              </a:defRPr>
            </a:pPr>
            <a:r>
              <a:t>DOCUMENT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3858768"/>
            <a:ext cx="3017520" cy="29260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1F6FC"/>
                </a:solidFill>
                <a:latin typeface="Aptos"/>
              </a:defRPr>
            </a:pPr>
            <a:r>
              <a:t>What next?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4233672"/>
            <a:ext cx="3017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A9B8CC"/>
                </a:solidFill>
                <a:latin typeface="Aptos"/>
              </a:defRPr>
            </a:pPr>
            <a:r>
              <a:t>Ticket, action, escalation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715000"/>
            <a:ext cx="1051560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FFBE55"/>
                </a:solidFill>
                <a:latin typeface="Aptos"/>
              </a:defRPr>
            </a:pPr>
            <a:r>
              <a:t>Escalate for suspicious successful login, privileged account exposure, spread or confirmed compromise.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961120" cy="53035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1F6FC"/>
                </a:solidFill>
                <a:latin typeface="Aptos"/>
              </a:defRPr>
            </a:pPr>
            <a:r>
              <a:t>05 | Wazuh Monitoring &amp; Evidence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46920" y="310896"/>
            <a:ext cx="1965960" cy="310896"/>
          </a:xfrm>
          <a:prstGeom prst="roundRect">
            <a:avLst/>
          </a:prstGeom>
          <a:solidFill>
            <a:srgbClr val="192A43"/>
          </a:solidFill>
          <a:ln>
            <a:solidFill>
              <a:srgbClr val="2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74352" y="320040"/>
            <a:ext cx="1911095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500"/>
              </a:spcAft>
              <a:defRPr sz="900" b="1">
                <a:solidFill>
                  <a:srgbClr val="2DD4DC"/>
                </a:solidFill>
                <a:latin typeface="Aptos"/>
              </a:defRPr>
            </a:pPr>
            <a:r>
              <a:t>WAZUH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868680"/>
            <a:ext cx="11183112" cy="0"/>
          </a:xfrm>
          <a:prstGeom prst="line">
            <a:avLst/>
          </a:prstGeom>
          <a:ln w="12700">
            <a:solidFill>
              <a:srgbClr val="19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0352" y="6510528"/>
            <a:ext cx="68580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A9B8CC"/>
                </a:solidFill>
                <a:latin typeface="Aptos"/>
              </a:defRPr>
            </a:pPr>
            <a:r>
              <a:t>CYBER SECURITY INTERNSHIP • WEEK 11 SOC 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A9B8CC"/>
                </a:solidFill>
                <a:latin typeface="Aptos"/>
              </a:defRPr>
            </a:pPr>
            <a:r>
              <a:t>06/15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097280"/>
            <a:ext cx="521208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2DD4DC"/>
                </a:solidFill>
                <a:latin typeface="Aptos"/>
              </a:defRPr>
            </a:pPr>
            <a:r>
              <a:t>What to verify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00200"/>
            <a:ext cx="5029200" cy="338328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1F6FC"/>
                </a:solidFill>
                <a:latin typeface="Aptos"/>
              </a:defRPr>
            </a:pPr>
            <a:r>
              <a:t>•  Manager, indexer and dashboard service state</a:t>
            </a:r>
          </a:p>
          <a:p>
            <a:pPr>
              <a:spcAft>
                <a:spcPts val="700"/>
              </a:spcAft>
              <a:defRPr sz="1500">
                <a:solidFill>
                  <a:srgbClr val="F1F6FC"/>
                </a:solidFill>
                <a:latin typeface="Aptos"/>
              </a:defRPr>
            </a:pPr>
            <a:r>
              <a:t>•  Dashboard access and selected time range</a:t>
            </a:r>
          </a:p>
          <a:p>
            <a:pPr>
              <a:spcAft>
                <a:spcPts val="700"/>
              </a:spcAft>
              <a:defRPr sz="1500">
                <a:solidFill>
                  <a:srgbClr val="F1F6FC"/>
                </a:solidFill>
                <a:latin typeface="Aptos"/>
              </a:defRPr>
            </a:pPr>
            <a:r>
              <a:t>•  Windows agent status, agent ID and last activity</a:t>
            </a:r>
          </a:p>
          <a:p>
            <a:pPr>
              <a:spcAft>
                <a:spcPts val="700"/>
              </a:spcAft>
              <a:defRPr sz="1500">
                <a:solidFill>
                  <a:srgbClr val="F1F6FC"/>
                </a:solidFill>
                <a:latin typeface="Aptos"/>
              </a:defRPr>
            </a:pPr>
            <a:r>
              <a:t>•  Authentication success/failure events</a:t>
            </a:r>
          </a:p>
          <a:p>
            <a:pPr>
              <a:spcAft>
                <a:spcPts val="700"/>
              </a:spcAft>
              <a:defRPr sz="1500">
                <a:solidFill>
                  <a:srgbClr val="F1F6FC"/>
                </a:solidFill>
                <a:latin typeface="Aptos"/>
              </a:defRPr>
            </a:pPr>
            <a:r>
              <a:t>•  File Integrity Monitoring (FIM) and system events</a:t>
            </a:r>
          </a:p>
          <a:p>
            <a:pPr>
              <a:spcAft>
                <a:spcPts val="700"/>
              </a:spcAft>
              <a:defRPr sz="1500">
                <a:solidFill>
                  <a:srgbClr val="F1F6FC"/>
                </a:solidFill>
                <a:latin typeface="Aptos"/>
              </a:defRPr>
            </a:pPr>
            <a:r>
              <a:t>•  Rule description, rule level, timestamp and source fields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234440"/>
            <a:ext cx="5074920" cy="1188720"/>
          </a:xfrm>
          <a:prstGeom prst="roundRect">
            <a:avLst/>
          </a:prstGeom>
          <a:solidFill>
            <a:srgbClr val="131F34"/>
          </a:solidFill>
          <a:ln>
            <a:solidFill>
              <a:srgbClr val="19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234440"/>
            <a:ext cx="64008" cy="1188720"/>
          </a:xfrm>
          <a:prstGeom prst="rect">
            <a:avLst/>
          </a:prstGeom>
          <a:solidFill>
            <a:srgbClr val="48D597"/>
          </a:solidFill>
          <a:ln>
            <a:solidFill>
              <a:srgbClr val="48D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362456"/>
            <a:ext cx="475488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48D597"/>
                </a:solidFill>
                <a:latin typeface="Aptos"/>
              </a:defRPr>
            </a:pPr>
            <a:r>
              <a:t>SERVICE HEALTH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801368"/>
            <a:ext cx="4754880" cy="53035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F1F6FC"/>
                </a:solidFill>
                <a:latin typeface="Aptos"/>
              </a:defRPr>
            </a:pPr>
            <a:r>
              <a:t>Capture actual service output; report stopped or missing services honestly.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651760"/>
            <a:ext cx="5074920" cy="1188720"/>
          </a:xfrm>
          <a:prstGeom prst="roundRect">
            <a:avLst/>
          </a:prstGeom>
          <a:solidFill>
            <a:srgbClr val="131F34"/>
          </a:solidFill>
          <a:ln>
            <a:solidFill>
              <a:srgbClr val="19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2651760"/>
            <a:ext cx="64008" cy="1188720"/>
          </a:xfrm>
          <a:prstGeom prst="rect">
            <a:avLst/>
          </a:prstGeom>
          <a:solidFill>
            <a:srgbClr val="4F8CFF"/>
          </a:solidFill>
          <a:ln>
            <a:solidFill>
              <a:srgbClr val="4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779776"/>
            <a:ext cx="475488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4F8CFF"/>
                </a:solidFill>
                <a:latin typeface="Aptos"/>
              </a:defRPr>
            </a:pPr>
            <a:r>
              <a:t>AUTHENTICATION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218688"/>
            <a:ext cx="4754880" cy="53035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F1F6FC"/>
                </a:solidFill>
                <a:latin typeface="Aptos"/>
              </a:defRPr>
            </a:pPr>
            <a:r>
              <a:t>Check account, source, result, event ID and surrounding activity.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4069080"/>
            <a:ext cx="5074920" cy="1188720"/>
          </a:xfrm>
          <a:prstGeom prst="roundRect">
            <a:avLst/>
          </a:prstGeom>
          <a:solidFill>
            <a:srgbClr val="131F34"/>
          </a:solidFill>
          <a:ln>
            <a:solidFill>
              <a:srgbClr val="19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4069080"/>
            <a:ext cx="64008" cy="1188720"/>
          </a:xfrm>
          <a:prstGeom prst="rect">
            <a:avLst/>
          </a:prstGeom>
          <a:solidFill>
            <a:srgbClr val="AB82FF"/>
          </a:solidFill>
          <a:ln>
            <a:solidFill>
              <a:srgbClr val="AB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197096"/>
            <a:ext cx="475488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AB82FF"/>
                </a:solidFill>
                <a:latin typeface="Aptos"/>
              </a:defRPr>
            </a:pPr>
            <a:r>
              <a:t>FILE / SYSTEM EVENTS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636008"/>
            <a:ext cx="4754880" cy="53035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F1F6FC"/>
                </a:solidFill>
                <a:latin typeface="Aptos"/>
              </a:defRPr>
            </a:pPr>
            <a:r>
              <a:t>Use a harmless monitored test file; verify path and rule details.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806440"/>
            <a:ext cx="1051560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FFBE55"/>
                </a:solidFill>
                <a:latin typeface="Aptos"/>
              </a:defRPr>
            </a:pPr>
            <a:r>
              <a:t>Keep the time range and identifiers visible; never invent rule IDs, IPs or timestamps.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961120" cy="53035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1F6FC"/>
                </a:solidFill>
                <a:latin typeface="Aptos"/>
              </a:defRPr>
            </a:pPr>
            <a:r>
              <a:t>06 | Snort Monitoring &amp; Comparison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46920" y="310896"/>
            <a:ext cx="1965960" cy="310896"/>
          </a:xfrm>
          <a:prstGeom prst="roundRect">
            <a:avLst/>
          </a:prstGeom>
          <a:solidFill>
            <a:srgbClr val="192A43"/>
          </a:solidFill>
          <a:ln>
            <a:solidFill>
              <a:srgbClr val="2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74352" y="320040"/>
            <a:ext cx="1911095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500"/>
              </a:spcAft>
              <a:defRPr sz="900" b="1">
                <a:solidFill>
                  <a:srgbClr val="2DD4DC"/>
                </a:solidFill>
                <a:latin typeface="Aptos"/>
              </a:defRPr>
            </a:pPr>
            <a:r>
              <a:t>SNORT IDS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868680"/>
            <a:ext cx="11183112" cy="0"/>
          </a:xfrm>
          <a:prstGeom prst="line">
            <a:avLst/>
          </a:prstGeom>
          <a:ln w="12700">
            <a:solidFill>
              <a:srgbClr val="19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0352" y="6510528"/>
            <a:ext cx="68580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A9B8CC"/>
                </a:solidFill>
                <a:latin typeface="Aptos"/>
              </a:defRPr>
            </a:pPr>
            <a:r>
              <a:t>CYBER SECURITY INTERNSHIP • WEEK 11 SOC 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A9B8CC"/>
                </a:solidFill>
                <a:latin typeface="Aptos"/>
              </a:defRPr>
            </a:pPr>
            <a:r>
              <a:t>07/15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188720"/>
            <a:ext cx="3474720" cy="1828800"/>
          </a:xfrm>
          <a:prstGeom prst="roundRect">
            <a:avLst/>
          </a:prstGeom>
          <a:solidFill>
            <a:srgbClr val="131F34"/>
          </a:solidFill>
          <a:ln>
            <a:solidFill>
              <a:srgbClr val="19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188720"/>
            <a:ext cx="64008" cy="1828800"/>
          </a:xfrm>
          <a:prstGeom prst="rect">
            <a:avLst/>
          </a:prstGeom>
          <a:solidFill>
            <a:srgbClr val="AB82FF"/>
          </a:solidFill>
          <a:ln>
            <a:solidFill>
              <a:srgbClr val="AB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316736"/>
            <a:ext cx="3154679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AB82FF"/>
                </a:solidFill>
                <a:latin typeface="Aptos"/>
              </a:defRPr>
            </a:pPr>
            <a:r>
              <a:t>SNORT OBSERVES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755648"/>
            <a:ext cx="3154679" cy="11704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F1F6FC"/>
                </a:solidFill>
                <a:latin typeface="Aptos"/>
              </a:defRPr>
            </a:pPr>
            <a:r>
              <a:t>Network traffic visible at the sensor interface; rules produce alerts with messages and SIDs.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188720"/>
            <a:ext cx="3474720" cy="1828800"/>
          </a:xfrm>
          <a:prstGeom prst="roundRect">
            <a:avLst/>
          </a:prstGeom>
          <a:solidFill>
            <a:srgbClr val="131F34"/>
          </a:solidFill>
          <a:ln>
            <a:solidFill>
              <a:srgbClr val="19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188720"/>
            <a:ext cx="64008" cy="1828800"/>
          </a:xfrm>
          <a:prstGeom prst="rect">
            <a:avLst/>
          </a:prstGeom>
          <a:solidFill>
            <a:srgbClr val="2DD4DC"/>
          </a:solidFill>
          <a:ln>
            <a:solidFill>
              <a:srgbClr val="2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316736"/>
            <a:ext cx="3154679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DD4DC"/>
                </a:solidFill>
                <a:latin typeface="Aptos"/>
              </a:defRPr>
            </a:pPr>
            <a:r>
              <a:t>WAZUH OBSERVES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1755648"/>
            <a:ext cx="3154679" cy="11704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F1F6FC"/>
                </a:solidFill>
                <a:latin typeface="Aptos"/>
              </a:defRPr>
            </a:pPr>
            <a:r>
              <a:t>Endpoint and collected security telemetry; decoders and rules produce searchable alerts.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188720"/>
            <a:ext cx="3474720" cy="1828800"/>
          </a:xfrm>
          <a:prstGeom prst="roundRect">
            <a:avLst/>
          </a:prstGeom>
          <a:solidFill>
            <a:srgbClr val="131F34"/>
          </a:solidFill>
          <a:ln>
            <a:solidFill>
              <a:srgbClr val="19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1000" y="1188720"/>
            <a:ext cx="64008" cy="1828800"/>
          </a:xfrm>
          <a:prstGeom prst="rect">
            <a:avLst/>
          </a:prstGeom>
          <a:solidFill>
            <a:srgbClr val="48D597"/>
          </a:solidFill>
          <a:ln>
            <a:solidFill>
              <a:srgbClr val="48D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79" y="1316736"/>
            <a:ext cx="3154679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48D597"/>
                </a:solidFill>
                <a:latin typeface="Aptos"/>
              </a:defRPr>
            </a:pPr>
            <a:r>
              <a:t>TOGETHER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1755648"/>
            <a:ext cx="3154679" cy="11704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F1F6FC"/>
                </a:solidFill>
                <a:latin typeface="Aptos"/>
              </a:defRPr>
            </a:pPr>
            <a:r>
              <a:t>Network context + endpoint context can improve triage when timestamps and fields align.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3429000"/>
            <a:ext cx="2057400" cy="411480"/>
          </a:xfrm>
          <a:prstGeom prst="rect">
            <a:avLst/>
          </a:prstGeom>
          <a:solidFill>
            <a:srgbClr val="192A43"/>
          </a:solidFill>
          <a:ln>
            <a:solidFill>
              <a:srgbClr val="2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" y="3483864"/>
            <a:ext cx="1911095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2DD4DC"/>
                </a:solidFill>
                <a:latin typeface="Aptos"/>
              </a:defRPr>
            </a:pPr>
            <a:r>
              <a:t>COMPARE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34640" y="3429000"/>
            <a:ext cx="3977639" cy="411480"/>
          </a:xfrm>
          <a:prstGeom prst="rect">
            <a:avLst/>
          </a:prstGeom>
          <a:solidFill>
            <a:srgbClr val="192A43"/>
          </a:solidFill>
          <a:ln>
            <a:solidFill>
              <a:srgbClr val="2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07792" y="3483864"/>
            <a:ext cx="3831335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2DD4DC"/>
                </a:solidFill>
                <a:latin typeface="Aptos"/>
              </a:defRPr>
            </a:pPr>
            <a:r>
              <a:t>SNORT IDS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12279" y="3429000"/>
            <a:ext cx="3977639" cy="411480"/>
          </a:xfrm>
          <a:prstGeom prst="rect">
            <a:avLst/>
          </a:prstGeom>
          <a:solidFill>
            <a:srgbClr val="192A43"/>
          </a:solidFill>
          <a:ln>
            <a:solidFill>
              <a:srgbClr val="2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85431" y="3483864"/>
            <a:ext cx="3831335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2DD4DC"/>
                </a:solidFill>
                <a:latin typeface="Aptos"/>
              </a:defRPr>
            </a:pPr>
            <a:r>
              <a:t>WAZUH SIEM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3867912"/>
            <a:ext cx="2057400" cy="475488"/>
          </a:xfrm>
          <a:prstGeom prst="rect">
            <a:avLst/>
          </a:prstGeom>
          <a:solidFill>
            <a:srgbClr val="131F34"/>
          </a:solidFill>
          <a:ln>
            <a:solidFill>
              <a:srgbClr val="19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6" y="3922776"/>
            <a:ext cx="1892807" cy="34747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F1F6FC"/>
                </a:solidFill>
                <a:latin typeface="Aptos"/>
              </a:defRPr>
            </a:pPr>
            <a:r>
              <a:t>Primary 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34640" y="3867912"/>
            <a:ext cx="3977639" cy="475488"/>
          </a:xfrm>
          <a:prstGeom prst="rect">
            <a:avLst/>
          </a:prstGeom>
          <a:solidFill>
            <a:srgbClr val="131F34"/>
          </a:solidFill>
          <a:ln>
            <a:solidFill>
              <a:srgbClr val="19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16936" y="3922776"/>
            <a:ext cx="3813048" cy="34747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F1F6FC"/>
                </a:solidFill>
                <a:latin typeface="Aptos"/>
              </a:defRPr>
            </a:pPr>
            <a:r>
              <a:t>Packets / network patterns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12279" y="3867912"/>
            <a:ext cx="3977639" cy="475488"/>
          </a:xfrm>
          <a:prstGeom prst="rect">
            <a:avLst/>
          </a:prstGeom>
          <a:solidFill>
            <a:srgbClr val="131F34"/>
          </a:solidFill>
          <a:ln>
            <a:solidFill>
              <a:srgbClr val="19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94575" y="3922776"/>
            <a:ext cx="3813048" cy="34747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F1F6FC"/>
                </a:solidFill>
                <a:latin typeface="Aptos"/>
              </a:defRPr>
            </a:pPr>
            <a:r>
              <a:t>Endpoint logs / security events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4389120"/>
            <a:ext cx="2057400" cy="475488"/>
          </a:xfrm>
          <a:prstGeom prst="rect">
            <a:avLst/>
          </a:prstGeom>
          <a:solidFill>
            <a:srgbClr val="131F34"/>
          </a:solidFill>
          <a:ln>
            <a:solidFill>
              <a:srgbClr val="19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536" y="4443984"/>
            <a:ext cx="1892807" cy="34747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F1F6FC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34640" y="4389120"/>
            <a:ext cx="3977639" cy="475488"/>
          </a:xfrm>
          <a:prstGeom prst="rect">
            <a:avLst/>
          </a:prstGeom>
          <a:solidFill>
            <a:srgbClr val="131F34"/>
          </a:solidFill>
          <a:ln>
            <a:solidFill>
              <a:srgbClr val="19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16936" y="4443984"/>
            <a:ext cx="3813048" cy="34747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F1F6FC"/>
                </a:solidFill>
                <a:latin typeface="Aptos"/>
              </a:defRPr>
            </a:pPr>
            <a:r>
              <a:t>Alert message, SID, IPs, ports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12279" y="4389120"/>
            <a:ext cx="3977639" cy="475488"/>
          </a:xfrm>
          <a:prstGeom prst="rect">
            <a:avLst/>
          </a:prstGeom>
          <a:solidFill>
            <a:srgbClr val="131F34"/>
          </a:solidFill>
          <a:ln>
            <a:solidFill>
              <a:srgbClr val="19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94575" y="4443984"/>
            <a:ext cx="3813048" cy="34747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F1F6FC"/>
                </a:solidFill>
                <a:latin typeface="Aptos"/>
              </a:defRPr>
            </a:pPr>
            <a:r>
              <a:t>Agent, timestamp, rule, event fields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" y="4910328"/>
            <a:ext cx="2057400" cy="475488"/>
          </a:xfrm>
          <a:prstGeom prst="rect">
            <a:avLst/>
          </a:prstGeom>
          <a:solidFill>
            <a:srgbClr val="131F34"/>
          </a:solidFill>
          <a:ln>
            <a:solidFill>
              <a:srgbClr val="19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9536" y="4965192"/>
            <a:ext cx="1892807" cy="34747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F1F6FC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34640" y="4910328"/>
            <a:ext cx="3977639" cy="475488"/>
          </a:xfrm>
          <a:prstGeom prst="rect">
            <a:avLst/>
          </a:prstGeom>
          <a:solidFill>
            <a:srgbClr val="131F34"/>
          </a:solidFill>
          <a:ln>
            <a:solidFill>
              <a:srgbClr val="19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916936" y="4965192"/>
            <a:ext cx="3813048" cy="34747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F1F6FC"/>
                </a:solidFill>
                <a:latin typeface="Aptos"/>
              </a:defRPr>
            </a:pPr>
            <a:r>
              <a:t>Cannot see traffic outside sensor visibility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12279" y="4910328"/>
            <a:ext cx="3977639" cy="475488"/>
          </a:xfrm>
          <a:prstGeom prst="rect">
            <a:avLst/>
          </a:prstGeom>
          <a:solidFill>
            <a:srgbClr val="131F34"/>
          </a:solidFill>
          <a:ln>
            <a:solidFill>
              <a:srgbClr val="19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94575" y="4965192"/>
            <a:ext cx="3813048" cy="34747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F1F6FC"/>
                </a:solidFill>
                <a:latin typeface="Aptos"/>
              </a:defRPr>
            </a:pPr>
            <a:r>
              <a:t>Only sees logs and integrations configured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806440"/>
            <a:ext cx="10607040" cy="29260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FFBE55"/>
                </a:solidFill>
                <a:latin typeface="Aptos"/>
              </a:defRPr>
            </a:pPr>
            <a:r>
              <a:t>A non-match is a valid finding. Do not claim integration without a documented path and matching evidence.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961120" cy="53035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1F6FC"/>
                </a:solidFill>
                <a:latin typeface="Aptos"/>
              </a:defRPr>
            </a:pPr>
            <a:r>
              <a:t>07 | Investigation: Failed Logins → Success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46920" y="310896"/>
            <a:ext cx="1965960" cy="310896"/>
          </a:xfrm>
          <a:prstGeom prst="roundRect">
            <a:avLst/>
          </a:prstGeom>
          <a:solidFill>
            <a:srgbClr val="192A43"/>
          </a:solidFill>
          <a:ln>
            <a:solidFill>
              <a:srgbClr val="2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74352" y="320040"/>
            <a:ext cx="1911095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500"/>
              </a:spcAft>
              <a:defRPr sz="900" b="1">
                <a:solidFill>
                  <a:srgbClr val="2DD4DC"/>
                </a:solidFill>
                <a:latin typeface="Aptos"/>
              </a:defRPr>
            </a:pPr>
            <a:r>
              <a:t>INVESTIGATION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868680"/>
            <a:ext cx="11183112" cy="0"/>
          </a:xfrm>
          <a:prstGeom prst="line">
            <a:avLst/>
          </a:prstGeom>
          <a:ln w="12700">
            <a:solidFill>
              <a:srgbClr val="19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0352" y="6510528"/>
            <a:ext cx="68580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A9B8CC"/>
                </a:solidFill>
                <a:latin typeface="Aptos"/>
              </a:defRPr>
            </a:pPr>
            <a:r>
              <a:t>CYBER SECURITY INTERNSHIP • WEEK 11 SOC 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A9B8CC"/>
                </a:solidFill>
                <a:latin typeface="Aptos"/>
              </a:defRPr>
            </a:pPr>
            <a:r>
              <a:t>08/15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05840" y="1828800"/>
            <a:ext cx="10058400" cy="0"/>
          </a:xfrm>
          <a:prstGeom prst="line">
            <a:avLst/>
          </a:prstGeom>
          <a:ln w="50800">
            <a:solidFill>
              <a:srgbClr val="19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097280" y="1600200"/>
            <a:ext cx="457200" cy="457200"/>
          </a:xfrm>
          <a:prstGeom prst="ellipse">
            <a:avLst/>
          </a:prstGeom>
          <a:solidFill>
            <a:srgbClr val="FF6474"/>
          </a:solidFill>
          <a:ln>
            <a:solidFill>
              <a:srgbClr val="FF6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" y="1143000"/>
            <a:ext cx="731520" cy="310896"/>
          </a:xfrm>
          <a:prstGeom prst="roundRect">
            <a:avLst/>
          </a:prstGeom>
          <a:solidFill>
            <a:srgbClr val="192A43"/>
          </a:solidFill>
          <a:ln>
            <a:solidFill>
              <a:srgbClr val="FF6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152144"/>
            <a:ext cx="676656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500"/>
              </a:spcAft>
              <a:defRPr sz="900" b="1">
                <a:solidFill>
                  <a:srgbClr val="FF6474"/>
                </a:solidFill>
                <a:latin typeface="Aptos"/>
              </a:defRPr>
            </a:pPr>
            <a:r>
              <a:t>T1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240280"/>
            <a:ext cx="2148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F6474"/>
                </a:solidFill>
                <a:latin typeface="Aptos"/>
              </a:defRPr>
            </a:pPr>
            <a:r>
              <a:t>Repeated failures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651760"/>
            <a:ext cx="2240280" cy="56692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F1F6FC"/>
                </a:solidFill>
                <a:latin typeface="Aptos"/>
              </a:defRPr>
            </a:pPr>
            <a:r>
              <a:t>Count + source</a:t>
            </a:r>
          </a:p>
        </p:txBody>
      </p:sp>
      <p:sp>
        <p:nvSpPr>
          <p:cNvPr id="14" name="Oval 13"/>
          <p:cNvSpPr/>
          <p:nvPr/>
        </p:nvSpPr>
        <p:spPr>
          <a:xfrm>
            <a:off x="3657600" y="1600200"/>
            <a:ext cx="457200" cy="457200"/>
          </a:xfrm>
          <a:prstGeom prst="ellipse">
            <a:avLst/>
          </a:prstGeom>
          <a:solidFill>
            <a:srgbClr val="FFBE55"/>
          </a:solidFill>
          <a:ln>
            <a:solidFill>
              <a:srgbClr val="FFB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520440" y="1143000"/>
            <a:ext cx="731520" cy="310896"/>
          </a:xfrm>
          <a:prstGeom prst="roundRect">
            <a:avLst/>
          </a:prstGeom>
          <a:solidFill>
            <a:srgbClr val="192A43"/>
          </a:solidFill>
          <a:ln>
            <a:solidFill>
              <a:srgbClr val="FFB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7872" y="1152144"/>
            <a:ext cx="676656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500"/>
              </a:spcAft>
              <a:defRPr sz="900" b="1">
                <a:solidFill>
                  <a:srgbClr val="FFBE55"/>
                </a:solidFill>
                <a:latin typeface="Aptos"/>
              </a:defRPr>
            </a:pPr>
            <a:r>
              <a:t>T2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2240280"/>
            <a:ext cx="2148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FBE55"/>
                </a:solidFill>
                <a:latin typeface="Aptos"/>
              </a:defRPr>
            </a:pPr>
            <a:r>
              <a:t>Successful login?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2651760"/>
            <a:ext cx="2240280" cy="56692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F1F6FC"/>
                </a:solidFill>
                <a:latin typeface="Aptos"/>
              </a:defRPr>
            </a:pPr>
            <a:r>
              <a:t>Account + result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0" y="1600200"/>
            <a:ext cx="457200" cy="457200"/>
          </a:xfrm>
          <a:prstGeom prst="ellipse">
            <a:avLst/>
          </a:prstGeom>
          <a:solidFill>
            <a:srgbClr val="4F8CFF"/>
          </a:solidFill>
          <a:ln>
            <a:solidFill>
              <a:srgbClr val="4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63640" y="1143000"/>
            <a:ext cx="731520" cy="310896"/>
          </a:xfrm>
          <a:prstGeom prst="roundRect">
            <a:avLst/>
          </a:prstGeom>
          <a:solidFill>
            <a:srgbClr val="192A43"/>
          </a:solidFill>
          <a:ln>
            <a:solidFill>
              <a:srgbClr val="4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91072" y="1152144"/>
            <a:ext cx="676656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500"/>
              </a:spcAft>
              <a:defRPr sz="900" b="1">
                <a:solidFill>
                  <a:srgbClr val="4F8CFF"/>
                </a:solidFill>
                <a:latin typeface="Aptos"/>
              </a:defRPr>
            </a:pPr>
            <a:r>
              <a:t>T3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2240280"/>
            <a:ext cx="2148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4F8CFF"/>
                </a:solidFill>
                <a:latin typeface="Aptos"/>
              </a:defRPr>
            </a:pPr>
            <a:r>
              <a:t>Post-login activity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651760"/>
            <a:ext cx="2240280" cy="56692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F1F6FC"/>
                </a:solidFill>
                <a:latin typeface="Aptos"/>
              </a:defRPr>
            </a:pPr>
            <a:r>
              <a:t>Process / files</a:t>
            </a:r>
          </a:p>
        </p:txBody>
      </p:sp>
      <p:sp>
        <p:nvSpPr>
          <p:cNvPr id="24" name="Oval 23"/>
          <p:cNvSpPr/>
          <p:nvPr/>
        </p:nvSpPr>
        <p:spPr>
          <a:xfrm>
            <a:off x="9326880" y="1600200"/>
            <a:ext cx="457200" cy="457200"/>
          </a:xfrm>
          <a:prstGeom prst="ellipse">
            <a:avLst/>
          </a:prstGeom>
          <a:solidFill>
            <a:srgbClr val="48D597"/>
          </a:solidFill>
          <a:ln>
            <a:solidFill>
              <a:srgbClr val="48D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89719" y="1143000"/>
            <a:ext cx="731520" cy="310896"/>
          </a:xfrm>
          <a:prstGeom prst="roundRect">
            <a:avLst/>
          </a:prstGeom>
          <a:solidFill>
            <a:srgbClr val="192A43"/>
          </a:solidFill>
          <a:ln>
            <a:solidFill>
              <a:srgbClr val="48D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17151" y="1152144"/>
            <a:ext cx="676656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500"/>
              </a:spcAft>
              <a:defRPr sz="900" b="1">
                <a:solidFill>
                  <a:srgbClr val="48D597"/>
                </a:solidFill>
                <a:latin typeface="Aptos"/>
              </a:defRPr>
            </a:pPr>
            <a:r>
              <a:t>T4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2240280"/>
            <a:ext cx="2148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48D597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2651760"/>
            <a:ext cx="2240280" cy="56692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F1F6FC"/>
                </a:solidFill>
                <a:latin typeface="Aptos"/>
              </a:defRPr>
            </a:pPr>
            <a:r>
              <a:t>Benign / suspicious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3657600"/>
            <a:ext cx="10744200" cy="1508760"/>
          </a:xfrm>
          <a:prstGeom prst="roundRect">
            <a:avLst/>
          </a:prstGeom>
          <a:solidFill>
            <a:srgbClr val="131F34"/>
          </a:solidFill>
          <a:ln>
            <a:solidFill>
              <a:srgbClr val="19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3858768"/>
            <a:ext cx="274320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DD4DC"/>
                </a:solidFill>
                <a:latin typeface="Aptos"/>
              </a:defRPr>
            </a:pPr>
            <a:r>
              <a:t>Questions to answer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251960"/>
            <a:ext cx="4754880" cy="82296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F1F6FC"/>
                </a:solidFill>
                <a:latin typeface="Aptos"/>
              </a:defRPr>
            </a:pPr>
            <a:r>
              <a:t>•  Which account and host?</a:t>
            </a:r>
          </a:p>
          <a:p>
            <a:pPr>
              <a:spcAft>
                <a:spcPts val="700"/>
              </a:spcAft>
              <a:defRPr sz="1100">
                <a:solidFill>
                  <a:srgbClr val="F1F6FC"/>
                </a:solidFill>
                <a:latin typeface="Aptos"/>
              </a:defRPr>
            </a:pPr>
            <a:r>
              <a:t>•  How many failures and over what window?</a:t>
            </a:r>
          </a:p>
          <a:p>
            <a:pPr>
              <a:spcAft>
                <a:spcPts val="700"/>
              </a:spcAft>
              <a:defRPr sz="1100">
                <a:solidFill>
                  <a:srgbClr val="F1F6FC"/>
                </a:solidFill>
                <a:latin typeface="Aptos"/>
              </a:defRPr>
            </a:pPr>
            <a:r>
              <a:t>•  Was success observed from the same source?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89320" y="4251960"/>
            <a:ext cx="4983480" cy="82296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F1F6FC"/>
                </a:solidFill>
                <a:latin typeface="Aptos"/>
              </a:defRPr>
            </a:pPr>
            <a:r>
              <a:t>•  What happened immediately afterward?</a:t>
            </a:r>
          </a:p>
          <a:p>
            <a:pPr>
              <a:spcAft>
                <a:spcPts val="700"/>
              </a:spcAft>
              <a:defRPr sz="1100">
                <a:solidFill>
                  <a:srgbClr val="F1F6FC"/>
                </a:solidFill>
                <a:latin typeface="Aptos"/>
              </a:defRPr>
            </a:pPr>
            <a:r>
              <a:t>•  Any related Snort alert or endpoint event?</a:t>
            </a:r>
          </a:p>
          <a:p>
            <a:pPr>
              <a:spcAft>
                <a:spcPts val="700"/>
              </a:spcAft>
              <a:defRPr sz="1100">
                <a:solidFill>
                  <a:srgbClr val="F1F6FC"/>
                </a:solidFill>
                <a:latin typeface="Aptos"/>
              </a:defRPr>
            </a:pPr>
            <a:r>
              <a:t>•  What evidence supports the conclusion?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FFBE55"/>
                </a:solidFill>
                <a:latin typeface="Aptos"/>
              </a:defRPr>
            </a:pPr>
            <a:r>
              <a:t>Use actual timestamps and event IDs. If success or post-login activity is absent, state “not observed.”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961120" cy="53035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1F6FC"/>
                </a:solidFill>
                <a:latin typeface="Aptos"/>
              </a:defRPr>
            </a:pPr>
            <a:r>
              <a:t>08 | IOC Identification &amp; Evidence Handling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46920" y="310896"/>
            <a:ext cx="1965960" cy="310896"/>
          </a:xfrm>
          <a:prstGeom prst="roundRect">
            <a:avLst/>
          </a:prstGeom>
          <a:solidFill>
            <a:srgbClr val="192A43"/>
          </a:solidFill>
          <a:ln>
            <a:solidFill>
              <a:srgbClr val="2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74352" y="320040"/>
            <a:ext cx="1911095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500"/>
              </a:spcAft>
              <a:defRPr sz="900" b="1">
                <a:solidFill>
                  <a:srgbClr val="2DD4DC"/>
                </a:solidFill>
                <a:latin typeface="Aptos"/>
              </a:defRPr>
            </a:pPr>
            <a:r>
              <a:t>IOC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868680"/>
            <a:ext cx="11183112" cy="0"/>
          </a:xfrm>
          <a:prstGeom prst="line">
            <a:avLst/>
          </a:prstGeom>
          <a:ln w="12700">
            <a:solidFill>
              <a:srgbClr val="19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0352" y="6510528"/>
            <a:ext cx="68580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A9B8CC"/>
                </a:solidFill>
                <a:latin typeface="Aptos"/>
              </a:defRPr>
            </a:pPr>
            <a:r>
              <a:t>CYBER SECURITY INTERNSHIP • WEEK 11 SOC 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A9B8CC"/>
                </a:solidFill>
                <a:latin typeface="Aptos"/>
              </a:defRPr>
            </a:pPr>
            <a:r>
              <a:t>09/15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097280"/>
            <a:ext cx="502920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2DD4DC"/>
                </a:solidFill>
                <a:latin typeface="Aptos"/>
              </a:defRPr>
            </a:pPr>
            <a:r>
              <a:t>Potential IOC categories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00200"/>
            <a:ext cx="4754880" cy="347472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F1F6FC"/>
                </a:solidFill>
                <a:latin typeface="Aptos"/>
              </a:defRPr>
            </a:pPr>
            <a:r>
              <a:t>•  Network: source/destination IP, domain, URL, port</a:t>
            </a:r>
          </a:p>
          <a:p>
            <a:pPr>
              <a:spcAft>
                <a:spcPts val="700"/>
              </a:spcAft>
              <a:defRPr sz="1400">
                <a:solidFill>
                  <a:srgbClr val="F1F6FC"/>
                </a:solidFill>
                <a:latin typeface="Aptos"/>
              </a:defRPr>
            </a:pPr>
            <a:r>
              <a:t>•  Endpoint: file path, hash, process, command line</a:t>
            </a:r>
          </a:p>
          <a:p>
            <a:pPr>
              <a:spcAft>
                <a:spcPts val="700"/>
              </a:spcAft>
              <a:defRPr sz="1400">
                <a:solidFill>
                  <a:srgbClr val="F1F6FC"/>
                </a:solidFill>
                <a:latin typeface="Aptos"/>
              </a:defRPr>
            </a:pPr>
            <a:r>
              <a:t>•  Identity: account, logon type, authentication result</a:t>
            </a:r>
          </a:p>
          <a:p>
            <a:pPr>
              <a:spcAft>
                <a:spcPts val="700"/>
              </a:spcAft>
              <a:defRPr sz="1400">
                <a:solidFill>
                  <a:srgbClr val="F1F6FC"/>
                </a:solidFill>
                <a:latin typeface="Aptos"/>
              </a:defRPr>
            </a:pPr>
            <a:r>
              <a:t>•  Detection: Wazuh rule ID / Snort SID / Windows Event ID</a:t>
            </a:r>
          </a:p>
          <a:p>
            <a:pPr>
              <a:spcAft>
                <a:spcPts val="700"/>
              </a:spcAft>
              <a:defRPr sz="1400">
                <a:solidFill>
                  <a:srgbClr val="F1F6FC"/>
                </a:solidFill>
                <a:latin typeface="Aptos"/>
              </a:defRPr>
            </a:pPr>
            <a:r>
              <a:t>•  Context: timestamp, host, time zone, evidence source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06440" y="1234440"/>
            <a:ext cx="5486400" cy="4160520"/>
          </a:xfrm>
          <a:prstGeom prst="roundRect">
            <a:avLst/>
          </a:prstGeom>
          <a:solidFill>
            <a:srgbClr val="131F34"/>
          </a:solidFill>
          <a:ln>
            <a:solidFill>
              <a:srgbClr val="19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508760"/>
            <a:ext cx="1508760" cy="438912"/>
          </a:xfrm>
          <a:prstGeom prst="rect">
            <a:avLst/>
          </a:prstGeom>
          <a:solidFill>
            <a:srgbClr val="192A43"/>
          </a:solidFill>
          <a:ln>
            <a:solidFill>
              <a:srgbClr val="2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1572768"/>
            <a:ext cx="1417319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500"/>
              </a:spcAft>
              <a:defRPr sz="900" b="1">
                <a:solidFill>
                  <a:srgbClr val="2DD4DC"/>
                </a:solidFill>
                <a:latin typeface="Aptos"/>
              </a:defRPr>
            </a:pPr>
            <a:r>
              <a:t>Indicator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79" y="1508760"/>
            <a:ext cx="2011680" cy="438912"/>
          </a:xfrm>
          <a:prstGeom prst="rect">
            <a:avLst/>
          </a:prstGeom>
          <a:solidFill>
            <a:srgbClr val="192A43"/>
          </a:solidFill>
          <a:ln>
            <a:solidFill>
              <a:srgbClr val="2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43800" y="1572768"/>
            <a:ext cx="1920240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500"/>
              </a:spcAft>
              <a:defRPr sz="900" b="1">
                <a:solidFill>
                  <a:srgbClr val="2DD4DC"/>
                </a:solidFill>
                <a:latin typeface="Aptos"/>
              </a:defRPr>
            </a:pPr>
            <a:r>
              <a:t>Observed value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09760" y="1508760"/>
            <a:ext cx="1965960" cy="438912"/>
          </a:xfrm>
          <a:prstGeom prst="rect">
            <a:avLst/>
          </a:prstGeom>
          <a:solidFill>
            <a:srgbClr val="192A43"/>
          </a:solidFill>
          <a:ln>
            <a:solidFill>
              <a:srgbClr val="2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55480" y="1572768"/>
            <a:ext cx="1874519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500"/>
              </a:spcAft>
              <a:defRPr sz="900" b="1">
                <a:solidFill>
                  <a:srgbClr val="2DD4DC"/>
                </a:solidFill>
                <a:latin typeface="Aptos"/>
              </a:defRPr>
            </a:pPr>
            <a:r>
              <a:t>Source / confidence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89320" y="1984248"/>
            <a:ext cx="1508760" cy="566928"/>
          </a:xfrm>
          <a:prstGeom prst="rect">
            <a:avLst/>
          </a:prstGeom>
          <a:solidFill>
            <a:srgbClr val="192A43"/>
          </a:solidFill>
          <a:ln>
            <a:solidFill>
              <a:srgbClr val="19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53328" y="2093976"/>
            <a:ext cx="1380743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F1F6FC"/>
                </a:solidFill>
                <a:latin typeface="Aptos"/>
              </a:defRPr>
            </a:pPr>
            <a:r>
              <a:t>Source IP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79" y="1984248"/>
            <a:ext cx="2011680" cy="566928"/>
          </a:xfrm>
          <a:prstGeom prst="rect">
            <a:avLst/>
          </a:prstGeom>
          <a:solidFill>
            <a:srgbClr val="192A43"/>
          </a:solidFill>
          <a:ln>
            <a:solidFill>
              <a:srgbClr val="19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62088" y="2093976"/>
            <a:ext cx="1883664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F1F6FC"/>
                </a:solidFill>
                <a:latin typeface="Aptos"/>
              </a:defRPr>
            </a:pPr>
            <a:r>
              <a:t>[actual / not observed]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09760" y="1984248"/>
            <a:ext cx="1965960" cy="566928"/>
          </a:xfrm>
          <a:prstGeom prst="rect">
            <a:avLst/>
          </a:prstGeom>
          <a:solidFill>
            <a:srgbClr val="192A43"/>
          </a:solidFill>
          <a:ln>
            <a:solidFill>
              <a:srgbClr val="19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73768" y="2093976"/>
            <a:ext cx="1837943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F1F6FC"/>
                </a:solidFill>
                <a:latin typeface="Aptos"/>
              </a:defRPr>
            </a:pPr>
            <a:r>
              <a:t>Snort / Wazuh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20" y="2606040"/>
            <a:ext cx="1508760" cy="566928"/>
          </a:xfrm>
          <a:prstGeom prst="rect">
            <a:avLst/>
          </a:prstGeom>
          <a:solidFill>
            <a:srgbClr val="192A43"/>
          </a:solidFill>
          <a:ln>
            <a:solidFill>
              <a:srgbClr val="19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53328" y="2715768"/>
            <a:ext cx="1380743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F1F6FC"/>
                </a:solidFill>
                <a:latin typeface="Aptos"/>
              </a:defRPr>
            </a:pPr>
            <a:r>
              <a:t>Account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98079" y="2606040"/>
            <a:ext cx="2011680" cy="566928"/>
          </a:xfrm>
          <a:prstGeom prst="rect">
            <a:avLst/>
          </a:prstGeom>
          <a:solidFill>
            <a:srgbClr val="192A43"/>
          </a:solidFill>
          <a:ln>
            <a:solidFill>
              <a:srgbClr val="19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62088" y="2715768"/>
            <a:ext cx="1883664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F1F6FC"/>
                </a:solidFill>
                <a:latin typeface="Aptos"/>
              </a:defRPr>
            </a:pPr>
            <a:r>
              <a:t>[actual / not observed]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0" y="2606040"/>
            <a:ext cx="1965960" cy="566928"/>
          </a:xfrm>
          <a:prstGeom prst="rect">
            <a:avLst/>
          </a:prstGeom>
          <a:solidFill>
            <a:srgbClr val="192A43"/>
          </a:solidFill>
          <a:ln>
            <a:solidFill>
              <a:srgbClr val="19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73768" y="2715768"/>
            <a:ext cx="1837943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F1F6FC"/>
                </a:solidFill>
                <a:latin typeface="Aptos"/>
              </a:defRPr>
            </a:pPr>
            <a:r>
              <a:t>Auth log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89320" y="3227832"/>
            <a:ext cx="1508760" cy="566928"/>
          </a:xfrm>
          <a:prstGeom prst="rect">
            <a:avLst/>
          </a:prstGeom>
          <a:solidFill>
            <a:srgbClr val="192A43"/>
          </a:solidFill>
          <a:ln>
            <a:solidFill>
              <a:srgbClr val="19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53328" y="3337560"/>
            <a:ext cx="1380743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F1F6FC"/>
                </a:solidFill>
                <a:latin typeface="Aptos"/>
              </a:defRPr>
            </a:pPr>
            <a:r>
              <a:t>File/hash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98079" y="3227832"/>
            <a:ext cx="2011680" cy="566928"/>
          </a:xfrm>
          <a:prstGeom prst="rect">
            <a:avLst/>
          </a:prstGeom>
          <a:solidFill>
            <a:srgbClr val="192A43"/>
          </a:solidFill>
          <a:ln>
            <a:solidFill>
              <a:srgbClr val="19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62088" y="3337560"/>
            <a:ext cx="1883664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F1F6FC"/>
                </a:solidFill>
                <a:latin typeface="Aptos"/>
              </a:defRPr>
            </a:pPr>
            <a:r>
              <a:t>[actual / not observed]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09760" y="3227832"/>
            <a:ext cx="1965960" cy="566928"/>
          </a:xfrm>
          <a:prstGeom prst="rect">
            <a:avLst/>
          </a:prstGeom>
          <a:solidFill>
            <a:srgbClr val="192A43"/>
          </a:solidFill>
          <a:ln>
            <a:solidFill>
              <a:srgbClr val="19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73768" y="3337560"/>
            <a:ext cx="1837943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F1F6FC"/>
                </a:solidFill>
                <a:latin typeface="Aptos"/>
              </a:defRPr>
            </a:pPr>
            <a:r>
              <a:t>FIM / endpoint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89320" y="3849624"/>
            <a:ext cx="1508760" cy="566928"/>
          </a:xfrm>
          <a:prstGeom prst="rect">
            <a:avLst/>
          </a:prstGeom>
          <a:solidFill>
            <a:srgbClr val="192A43"/>
          </a:solidFill>
          <a:ln>
            <a:solidFill>
              <a:srgbClr val="19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53328" y="3959352"/>
            <a:ext cx="1380743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F1F6FC"/>
                </a:solidFill>
                <a:latin typeface="Aptos"/>
              </a:defRPr>
            </a:pPr>
            <a:r>
              <a:t>Rule / SID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79" y="3849624"/>
            <a:ext cx="2011680" cy="566928"/>
          </a:xfrm>
          <a:prstGeom prst="rect">
            <a:avLst/>
          </a:prstGeom>
          <a:solidFill>
            <a:srgbClr val="192A43"/>
          </a:solidFill>
          <a:ln>
            <a:solidFill>
              <a:srgbClr val="19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62088" y="3959352"/>
            <a:ext cx="1883664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F1F6FC"/>
                </a:solidFill>
                <a:latin typeface="Aptos"/>
              </a:defRPr>
            </a:pPr>
            <a:r>
              <a:t>[actual / not observed]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509760" y="3849624"/>
            <a:ext cx="1965960" cy="566928"/>
          </a:xfrm>
          <a:prstGeom prst="rect">
            <a:avLst/>
          </a:prstGeom>
          <a:solidFill>
            <a:srgbClr val="192A43"/>
          </a:solidFill>
          <a:ln>
            <a:solidFill>
              <a:srgbClr val="19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73768" y="3959352"/>
            <a:ext cx="1837943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F1F6FC"/>
                </a:solidFill>
                <a:latin typeface="Aptos"/>
              </a:defRPr>
            </a:pPr>
            <a:r>
              <a:t>Alert record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623560"/>
            <a:ext cx="1051560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FFBE55"/>
                </a:solidFill>
                <a:latin typeface="Aptos"/>
              </a:defRPr>
            </a:pPr>
            <a:r>
              <a:t>Use “not observed” when evidence is absent. Preserve original logs and document where each indicator came from.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961120" cy="53035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1F6FC"/>
                </a:solidFill>
                <a:latin typeface="Aptos"/>
              </a:defRPr>
            </a:pPr>
            <a:r>
              <a:t>09 | Alert Severity &amp; Prioritization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46920" y="310896"/>
            <a:ext cx="1965960" cy="310896"/>
          </a:xfrm>
          <a:prstGeom prst="roundRect">
            <a:avLst/>
          </a:prstGeom>
          <a:solidFill>
            <a:srgbClr val="192A43"/>
          </a:solidFill>
          <a:ln>
            <a:solidFill>
              <a:srgbClr val="2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74352" y="320040"/>
            <a:ext cx="1911095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500"/>
              </a:spcAft>
              <a:defRPr sz="900" b="1">
                <a:solidFill>
                  <a:srgbClr val="2DD4DC"/>
                </a:solidFill>
                <a:latin typeface="Aptos"/>
              </a:defRPr>
            </a:pPr>
            <a:r>
              <a:t>SEVERITY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868680"/>
            <a:ext cx="11183112" cy="0"/>
          </a:xfrm>
          <a:prstGeom prst="line">
            <a:avLst/>
          </a:prstGeom>
          <a:ln w="12700">
            <a:solidFill>
              <a:srgbClr val="19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0352" y="6510528"/>
            <a:ext cx="68580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A9B8CC"/>
                </a:solidFill>
                <a:latin typeface="Aptos"/>
              </a:defRPr>
            </a:pPr>
            <a:r>
              <a:t>CYBER SECURITY INTERNSHIP • WEEK 11 SOC 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A9B8CC"/>
                </a:solidFill>
                <a:latin typeface="Aptos"/>
              </a:defRPr>
            </a:pPr>
            <a:r>
              <a:t>10/15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143000"/>
            <a:ext cx="1965960" cy="566928"/>
          </a:xfrm>
          <a:prstGeom prst="roundRect">
            <a:avLst/>
          </a:prstGeom>
          <a:solidFill>
            <a:srgbClr val="131F34"/>
          </a:solidFill>
          <a:ln>
            <a:solidFill>
              <a:srgbClr val="FF6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252728"/>
            <a:ext cx="1783080" cy="29260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FF6474"/>
                </a:solidFill>
                <a:latin typeface="Aptos"/>
              </a:defRPr>
            </a:pPr>
            <a:r>
              <a:t>CRITICAL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1143000"/>
            <a:ext cx="8183879" cy="566928"/>
          </a:xfrm>
          <a:prstGeom prst="roundRect">
            <a:avLst/>
          </a:prstGeom>
          <a:solidFill>
            <a:srgbClr val="131F34"/>
          </a:solidFill>
          <a:ln>
            <a:solidFill>
              <a:srgbClr val="19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27248" y="1252728"/>
            <a:ext cx="7772400" cy="31089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F1F6FC"/>
                </a:solidFill>
                <a:latin typeface="Aptos"/>
              </a:defRPr>
            </a:pPr>
            <a:r>
              <a:t>Confirmed compromise, active impact, or urgent threat to critical assets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1947672"/>
            <a:ext cx="1965960" cy="566928"/>
          </a:xfrm>
          <a:prstGeom prst="roundRect">
            <a:avLst/>
          </a:prstGeom>
          <a:solidFill>
            <a:srgbClr val="131F34"/>
          </a:solidFill>
          <a:ln>
            <a:solidFill>
              <a:srgbClr val="FFB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057400"/>
            <a:ext cx="1783080" cy="29260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FFBE55"/>
                </a:solidFill>
                <a:latin typeface="Aptos"/>
              </a:defRPr>
            </a:pPr>
            <a:r>
              <a:t>HIGH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0" y="1947672"/>
            <a:ext cx="8183879" cy="566928"/>
          </a:xfrm>
          <a:prstGeom prst="roundRect">
            <a:avLst/>
          </a:prstGeom>
          <a:solidFill>
            <a:srgbClr val="131F34"/>
          </a:solidFill>
          <a:ln>
            <a:solidFill>
              <a:srgbClr val="19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27248" y="2057400"/>
            <a:ext cx="7772400" cy="31089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F1F6FC"/>
                </a:solidFill>
                <a:latin typeface="Aptos"/>
              </a:defRPr>
            </a:pPr>
            <a:r>
              <a:t>Strong evidence of compromise or risky activity with significant potential impact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752344"/>
            <a:ext cx="1965960" cy="566928"/>
          </a:xfrm>
          <a:prstGeom prst="roundRect">
            <a:avLst/>
          </a:prstGeom>
          <a:solidFill>
            <a:srgbClr val="131F34"/>
          </a:solidFill>
          <a:ln>
            <a:solidFill>
              <a:srgbClr val="AB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2862072"/>
            <a:ext cx="1783080" cy="29260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AB82FF"/>
                </a:solidFill>
                <a:latin typeface="Aptos"/>
              </a:defRPr>
            </a:pPr>
            <a:r>
              <a:t>MEDIUM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26080" y="2752344"/>
            <a:ext cx="8183879" cy="566928"/>
          </a:xfrm>
          <a:prstGeom prst="roundRect">
            <a:avLst/>
          </a:prstGeom>
          <a:solidFill>
            <a:srgbClr val="131F34"/>
          </a:solidFill>
          <a:ln>
            <a:solidFill>
              <a:srgbClr val="19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27248" y="2862072"/>
            <a:ext cx="7772400" cy="31089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F1F6FC"/>
                </a:solidFill>
                <a:latin typeface="Aptos"/>
              </a:defRPr>
            </a:pPr>
            <a:r>
              <a:t>Suspicious activity requiring investigation; context is incomplete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557016"/>
            <a:ext cx="1965960" cy="566928"/>
          </a:xfrm>
          <a:prstGeom prst="roundRect">
            <a:avLst/>
          </a:prstGeom>
          <a:solidFill>
            <a:srgbClr val="131F34"/>
          </a:solidFill>
          <a:ln>
            <a:solidFill>
              <a:srgbClr val="4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666744"/>
            <a:ext cx="1783080" cy="29260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4F8CFF"/>
                </a:solidFill>
                <a:latin typeface="Aptos"/>
              </a:defRPr>
            </a:pPr>
            <a:r>
              <a:t>LOW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26080" y="3557016"/>
            <a:ext cx="8183879" cy="566928"/>
          </a:xfrm>
          <a:prstGeom prst="roundRect">
            <a:avLst/>
          </a:prstGeom>
          <a:solidFill>
            <a:srgbClr val="131F34"/>
          </a:solidFill>
          <a:ln>
            <a:solidFill>
              <a:srgbClr val="19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27248" y="3666744"/>
            <a:ext cx="7772400" cy="31089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F1F6FC"/>
                </a:solidFill>
                <a:latin typeface="Aptos"/>
              </a:defRPr>
            </a:pPr>
            <a:r>
              <a:t>Low-risk anomaly or blocked attempt with limited impact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361688"/>
            <a:ext cx="1965960" cy="566928"/>
          </a:xfrm>
          <a:prstGeom prst="roundRect">
            <a:avLst/>
          </a:prstGeom>
          <a:solidFill>
            <a:srgbClr val="131F34"/>
          </a:solidFill>
          <a:ln>
            <a:solidFill>
              <a:srgbClr val="48D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471416"/>
            <a:ext cx="1783080" cy="29260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48D597"/>
                </a:solidFill>
                <a:latin typeface="Aptos"/>
              </a:defRPr>
            </a:pPr>
            <a:r>
              <a:t>INFO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26080" y="4361688"/>
            <a:ext cx="8183879" cy="566928"/>
          </a:xfrm>
          <a:prstGeom prst="roundRect">
            <a:avLst/>
          </a:prstGeom>
          <a:solidFill>
            <a:srgbClr val="131F34"/>
          </a:solidFill>
          <a:ln>
            <a:solidFill>
              <a:srgbClr val="19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27248" y="4471416"/>
            <a:ext cx="7772400" cy="31089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F1F6FC"/>
                </a:solidFill>
                <a:latin typeface="Aptos"/>
              </a:defRPr>
            </a:pPr>
            <a:r>
              <a:t>Expected/benign event or useful telemetry without current threat indication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532120"/>
            <a:ext cx="10424160" cy="594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FFBE55"/>
                </a:solidFill>
                <a:latin typeface="Aptos"/>
              </a:defRPr>
            </a:pPr>
            <a:r>
              <a:t>Classify at least 15 observed alerts or clearly label practice scenarios; include a rationale for each severity.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961120" cy="53035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1F6FC"/>
                </a:solidFill>
                <a:latin typeface="Aptos"/>
              </a:defRPr>
            </a:pPr>
            <a:r>
              <a:t>10 | Incident Response: Seven Phases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46920" y="310896"/>
            <a:ext cx="1965960" cy="310896"/>
          </a:xfrm>
          <a:prstGeom prst="roundRect">
            <a:avLst/>
          </a:prstGeom>
          <a:solidFill>
            <a:srgbClr val="192A43"/>
          </a:solidFill>
          <a:ln>
            <a:solidFill>
              <a:srgbClr val="2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74352" y="320040"/>
            <a:ext cx="1911095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500"/>
              </a:spcAft>
              <a:defRPr sz="900" b="1">
                <a:solidFill>
                  <a:srgbClr val="2DD4DC"/>
                </a:solidFill>
                <a:latin typeface="Aptos"/>
              </a:defRPr>
            </a:pPr>
            <a:r>
              <a:t>RESPONSE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868680"/>
            <a:ext cx="11183112" cy="0"/>
          </a:xfrm>
          <a:prstGeom prst="line">
            <a:avLst/>
          </a:prstGeom>
          <a:ln w="12700">
            <a:solidFill>
              <a:srgbClr val="19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0352" y="6510528"/>
            <a:ext cx="68580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A9B8CC"/>
                </a:solidFill>
                <a:latin typeface="Aptos"/>
              </a:defRPr>
            </a:pPr>
            <a:r>
              <a:t>CYBER SECURITY INTERNSHIP • WEEK 11 SOC 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A9B8CC"/>
                </a:solidFill>
                <a:latin typeface="Aptos"/>
              </a:defRPr>
            </a:pPr>
            <a:r>
              <a:t>11/15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1444752" cy="2240280"/>
          </a:xfrm>
          <a:prstGeom prst="roundRect">
            <a:avLst/>
          </a:prstGeom>
          <a:solidFill>
            <a:srgbClr val="131F34"/>
          </a:solidFill>
          <a:ln>
            <a:solidFill>
              <a:srgbClr val="2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1" y="1828800"/>
            <a:ext cx="566928" cy="566928"/>
          </a:xfrm>
          <a:prstGeom prst="ellipse">
            <a:avLst/>
          </a:prstGeom>
          <a:solidFill>
            <a:srgbClr val="2DD4DC"/>
          </a:solidFill>
          <a:ln>
            <a:solidFill>
              <a:srgbClr val="2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1929384"/>
            <a:ext cx="566928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0A111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606040"/>
            <a:ext cx="1225296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2DD4DC"/>
                </a:solidFill>
                <a:latin typeface="Aptos"/>
              </a:defRPr>
            </a:pPr>
            <a:r>
              <a:t>PREPARE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3182112"/>
            <a:ext cx="1225296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500"/>
              </a:spcAft>
              <a:defRPr sz="900" b="0">
                <a:solidFill>
                  <a:srgbClr val="F1F6FC"/>
                </a:solidFill>
                <a:latin typeface="Aptos"/>
              </a:defRPr>
            </a:pPr>
            <a:r>
              <a:t>Roles, access, logging, backups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039112" y="2697480"/>
            <a:ext cx="201168" cy="0"/>
          </a:xfrm>
          <a:prstGeom prst="line">
            <a:avLst/>
          </a:prstGeom>
          <a:ln w="25400">
            <a:solidFill>
              <a:srgbClr val="19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249424" y="1600200"/>
            <a:ext cx="1444752" cy="2240280"/>
          </a:xfrm>
          <a:prstGeom prst="roundRect">
            <a:avLst/>
          </a:prstGeom>
          <a:solidFill>
            <a:srgbClr val="131F34"/>
          </a:solidFill>
          <a:ln>
            <a:solidFill>
              <a:srgbClr val="4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688336" y="1828800"/>
            <a:ext cx="566928" cy="566928"/>
          </a:xfrm>
          <a:prstGeom prst="ellipse">
            <a:avLst/>
          </a:prstGeom>
          <a:solidFill>
            <a:srgbClr val="4F8CFF"/>
          </a:solidFill>
          <a:ln>
            <a:solidFill>
              <a:srgbClr val="4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88336" y="1929384"/>
            <a:ext cx="566928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0A111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59152" y="2606040"/>
            <a:ext cx="1225296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4F8CFF"/>
                </a:solidFill>
                <a:latin typeface="Aptos"/>
              </a:defRPr>
            </a:pPr>
            <a:r>
              <a:t>IDENTIFY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59152" y="3182112"/>
            <a:ext cx="1225296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500"/>
              </a:spcAft>
              <a:defRPr sz="900" b="0">
                <a:solidFill>
                  <a:srgbClr val="F1F6FC"/>
                </a:solidFill>
                <a:latin typeface="Aptos"/>
              </a:defRPr>
            </a:pPr>
            <a:r>
              <a:t>Validate alert and scope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694176" y="2697480"/>
            <a:ext cx="201168" cy="0"/>
          </a:xfrm>
          <a:prstGeom prst="line">
            <a:avLst/>
          </a:prstGeom>
          <a:ln w="25400">
            <a:solidFill>
              <a:srgbClr val="19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904488" y="1600200"/>
            <a:ext cx="1444752" cy="2240280"/>
          </a:xfrm>
          <a:prstGeom prst="roundRect">
            <a:avLst/>
          </a:prstGeom>
          <a:solidFill>
            <a:srgbClr val="131F34"/>
          </a:solidFill>
          <a:ln>
            <a:solidFill>
              <a:srgbClr val="AB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343400" y="1828800"/>
            <a:ext cx="566928" cy="566928"/>
          </a:xfrm>
          <a:prstGeom prst="ellipse">
            <a:avLst/>
          </a:prstGeom>
          <a:solidFill>
            <a:srgbClr val="AB82FF"/>
          </a:solidFill>
          <a:ln>
            <a:solidFill>
              <a:srgbClr val="AB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43400" y="1929384"/>
            <a:ext cx="566928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0A111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14216" y="2606040"/>
            <a:ext cx="1225296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AB82FF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14216" y="3182112"/>
            <a:ext cx="1225296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500"/>
              </a:spcAft>
              <a:defRPr sz="900" b="0">
                <a:solidFill>
                  <a:srgbClr val="F1F6FC"/>
                </a:solidFill>
                <a:latin typeface="Aptos"/>
              </a:defRPr>
            </a:pPr>
            <a:r>
              <a:t>Build timeline; assess impact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349240" y="2697480"/>
            <a:ext cx="201168" cy="0"/>
          </a:xfrm>
          <a:prstGeom prst="line">
            <a:avLst/>
          </a:prstGeom>
          <a:ln w="25400">
            <a:solidFill>
              <a:srgbClr val="19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559552" y="1600200"/>
            <a:ext cx="1444752" cy="2240280"/>
          </a:xfrm>
          <a:prstGeom prst="roundRect">
            <a:avLst/>
          </a:prstGeom>
          <a:solidFill>
            <a:srgbClr val="131F34"/>
          </a:solidFill>
          <a:ln>
            <a:solidFill>
              <a:srgbClr val="FFB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998464" y="1828800"/>
            <a:ext cx="566928" cy="566928"/>
          </a:xfrm>
          <a:prstGeom prst="ellipse">
            <a:avLst/>
          </a:prstGeom>
          <a:solidFill>
            <a:srgbClr val="FFBE55"/>
          </a:solidFill>
          <a:ln>
            <a:solidFill>
              <a:srgbClr val="FFB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98464" y="1929384"/>
            <a:ext cx="566928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0A111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2606040"/>
            <a:ext cx="1225296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FFBE55"/>
                </a:solidFill>
                <a:latin typeface="Aptos"/>
              </a:defRPr>
            </a:pPr>
            <a:r>
              <a:t>CONTAIN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3182112"/>
            <a:ext cx="1225296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500"/>
              </a:spcAft>
              <a:defRPr sz="900" b="0">
                <a:solidFill>
                  <a:srgbClr val="F1F6FC"/>
                </a:solidFill>
                <a:latin typeface="Aptos"/>
              </a:defRPr>
            </a:pPr>
            <a:r>
              <a:t>Limit spread under policy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004304" y="2697480"/>
            <a:ext cx="201168" cy="0"/>
          </a:xfrm>
          <a:prstGeom prst="line">
            <a:avLst/>
          </a:prstGeom>
          <a:ln w="25400">
            <a:solidFill>
              <a:srgbClr val="19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214616" y="1600200"/>
            <a:ext cx="1444752" cy="2240280"/>
          </a:xfrm>
          <a:prstGeom prst="roundRect">
            <a:avLst/>
          </a:prstGeom>
          <a:solidFill>
            <a:srgbClr val="131F34"/>
          </a:solidFill>
          <a:ln>
            <a:solidFill>
              <a:srgbClr val="FF6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653528" y="1828800"/>
            <a:ext cx="566928" cy="566928"/>
          </a:xfrm>
          <a:prstGeom prst="ellipse">
            <a:avLst/>
          </a:prstGeom>
          <a:solidFill>
            <a:srgbClr val="FF6474"/>
          </a:solidFill>
          <a:ln>
            <a:solidFill>
              <a:srgbClr val="FF6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53528" y="1929384"/>
            <a:ext cx="566928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0A111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24344" y="2606040"/>
            <a:ext cx="1225296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FF6474"/>
                </a:solidFill>
                <a:latin typeface="Aptos"/>
              </a:defRPr>
            </a:pPr>
            <a:r>
              <a:t>ERADICATE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24344" y="3182112"/>
            <a:ext cx="1225296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500"/>
              </a:spcAft>
              <a:defRPr sz="900" b="0">
                <a:solidFill>
                  <a:srgbClr val="F1F6FC"/>
                </a:solidFill>
                <a:latin typeface="Aptos"/>
              </a:defRPr>
            </a:pPr>
            <a:r>
              <a:t>Remove cause; fix weakness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659368" y="2697480"/>
            <a:ext cx="201168" cy="0"/>
          </a:xfrm>
          <a:prstGeom prst="line">
            <a:avLst/>
          </a:prstGeom>
          <a:ln w="25400">
            <a:solidFill>
              <a:srgbClr val="19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869680" y="1600200"/>
            <a:ext cx="1444752" cy="2240280"/>
          </a:xfrm>
          <a:prstGeom prst="roundRect">
            <a:avLst/>
          </a:prstGeom>
          <a:solidFill>
            <a:srgbClr val="131F34"/>
          </a:solidFill>
          <a:ln>
            <a:solidFill>
              <a:srgbClr val="48D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308592" y="1828800"/>
            <a:ext cx="566928" cy="566928"/>
          </a:xfrm>
          <a:prstGeom prst="ellipse">
            <a:avLst/>
          </a:prstGeom>
          <a:solidFill>
            <a:srgbClr val="48D597"/>
          </a:solidFill>
          <a:ln>
            <a:solidFill>
              <a:srgbClr val="48D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08592" y="1929384"/>
            <a:ext cx="566928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0A111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79408" y="2606040"/>
            <a:ext cx="1225296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48D597"/>
                </a:solidFill>
                <a:latin typeface="Aptos"/>
              </a:defRPr>
            </a:pPr>
            <a:r>
              <a:t>RECOVER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79408" y="3182112"/>
            <a:ext cx="1225296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500"/>
              </a:spcAft>
              <a:defRPr sz="900" b="0">
                <a:solidFill>
                  <a:srgbClr val="F1F6FC"/>
                </a:solidFill>
                <a:latin typeface="Aptos"/>
              </a:defRPr>
            </a:pPr>
            <a:r>
              <a:t>Restore safely; monitor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0314432" y="2697480"/>
            <a:ext cx="201168" cy="0"/>
          </a:xfrm>
          <a:prstGeom prst="line">
            <a:avLst/>
          </a:prstGeom>
          <a:ln w="25400">
            <a:solidFill>
              <a:srgbClr val="19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10524744" y="1600200"/>
            <a:ext cx="1444752" cy="2240280"/>
          </a:xfrm>
          <a:prstGeom prst="roundRect">
            <a:avLst/>
          </a:prstGeom>
          <a:solidFill>
            <a:srgbClr val="131F34"/>
          </a:solidFill>
          <a:ln>
            <a:solidFill>
              <a:srgbClr val="2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963656" y="1828800"/>
            <a:ext cx="566928" cy="566928"/>
          </a:xfrm>
          <a:prstGeom prst="ellipse">
            <a:avLst/>
          </a:prstGeom>
          <a:solidFill>
            <a:srgbClr val="2DD4DC"/>
          </a:solidFill>
          <a:ln>
            <a:solidFill>
              <a:srgbClr val="2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963656" y="1929384"/>
            <a:ext cx="566928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0A111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34472" y="2606040"/>
            <a:ext cx="1225296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2DD4DC"/>
                </a:solidFill>
                <a:latin typeface="Aptos"/>
              </a:defRPr>
            </a:pPr>
            <a:r>
              <a:t>LEARN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34472" y="3182112"/>
            <a:ext cx="1225296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500"/>
              </a:spcAft>
              <a:defRPr sz="900" b="0">
                <a:solidFill>
                  <a:srgbClr val="F1F6FC"/>
                </a:solidFill>
                <a:latin typeface="Aptos"/>
              </a:defRPr>
            </a:pPr>
            <a:r>
              <a:t>Document lessons and tune rules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77240" y="4343400"/>
            <a:ext cx="10561320" cy="960120"/>
          </a:xfrm>
          <a:prstGeom prst="roundRect">
            <a:avLst/>
          </a:prstGeom>
          <a:solidFill>
            <a:srgbClr val="192A43"/>
          </a:solidFill>
          <a:ln>
            <a:solidFill>
              <a:srgbClr val="19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0120" y="4526280"/>
            <a:ext cx="10149840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1F6FC"/>
                </a:solidFill>
                <a:latin typeface="Aptos"/>
              </a:defRPr>
            </a:pPr>
            <a:r>
              <a:t>Preserve evidence • Follow approved authority • Record every action • Escalate when scope or impact grows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" y="5669280"/>
            <a:ext cx="103327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FFBE55"/>
                </a:solidFill>
                <a:latin typeface="Aptos"/>
              </a:defRPr>
            </a:pPr>
            <a:r>
              <a:t>Containment examples: reset account, revoke sessions, restrict traffic or isolate host—only under approved policy.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961120" cy="53035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1F6FC"/>
                </a:solidFill>
                <a:latin typeface="Aptos"/>
              </a:defRPr>
            </a:pPr>
            <a:r>
              <a:t>11 | SOC Incident Ticket — DG-SOC-001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46920" y="310896"/>
            <a:ext cx="1965960" cy="310896"/>
          </a:xfrm>
          <a:prstGeom prst="roundRect">
            <a:avLst/>
          </a:prstGeom>
          <a:solidFill>
            <a:srgbClr val="192A43"/>
          </a:solidFill>
          <a:ln>
            <a:solidFill>
              <a:srgbClr val="2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74352" y="320040"/>
            <a:ext cx="1911095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500"/>
              </a:spcAft>
              <a:defRPr sz="900" b="1">
                <a:solidFill>
                  <a:srgbClr val="2DD4DC"/>
                </a:solidFill>
                <a:latin typeface="Aptos"/>
              </a:defRPr>
            </a:pPr>
            <a:r>
              <a:t>TICKETING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868680"/>
            <a:ext cx="11183112" cy="0"/>
          </a:xfrm>
          <a:prstGeom prst="line">
            <a:avLst/>
          </a:prstGeom>
          <a:ln w="12700">
            <a:solidFill>
              <a:srgbClr val="19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0352" y="6510528"/>
            <a:ext cx="68580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A9B8CC"/>
                </a:solidFill>
                <a:latin typeface="Aptos"/>
              </a:defRPr>
            </a:pPr>
            <a:r>
              <a:t>CYBER SECURITY INTERNSHIP • WEEK 11 SOC 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A9B8CC"/>
                </a:solidFill>
                <a:latin typeface="Aptos"/>
              </a:defRPr>
            </a:pPr>
            <a:r>
              <a:t>12/15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143000"/>
            <a:ext cx="10835640" cy="4526280"/>
          </a:xfrm>
          <a:prstGeom prst="roundRect">
            <a:avLst/>
          </a:prstGeom>
          <a:solidFill>
            <a:srgbClr val="131F34"/>
          </a:solidFill>
          <a:ln>
            <a:solidFill>
              <a:srgbClr val="19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371600"/>
            <a:ext cx="46634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DD4DC"/>
                </a:solidFill>
                <a:latin typeface="Aptos"/>
              </a:defRPr>
            </a:pPr>
            <a:r>
              <a:t>TICKET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4572000" cy="23774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F1F6FC"/>
                </a:solidFill>
                <a:latin typeface="Aptos"/>
              </a:defRPr>
            </a:pPr>
            <a:r>
              <a:t>Ticket ID: DG-SOC-001</a:t>
            </a:r>
          </a:p>
          <a:p>
            <a:pPr>
              <a:spcAft>
                <a:spcPts val="500"/>
              </a:spcAft>
              <a:defRPr sz="1300" b="0">
                <a:solidFill>
                  <a:srgbClr val="F1F6FC"/>
                </a:solidFill>
                <a:latin typeface="Aptos"/>
              </a:defRPr>
            </a:pPr>
            <a:r>
              <a:t>Title: Authentication anomaly / lab investigation</a:t>
            </a:r>
          </a:p>
          <a:p>
            <a:pPr>
              <a:spcAft>
                <a:spcPts val="500"/>
              </a:spcAft>
              <a:defRPr sz="1300" b="0">
                <a:solidFill>
                  <a:srgbClr val="F1F6FC"/>
                </a:solidFill>
                <a:latin typeface="Aptos"/>
              </a:defRPr>
            </a:pPr>
            <a:r>
              <a:t>Severity: [based on evidence]</a:t>
            </a:r>
          </a:p>
          <a:p>
            <a:pPr>
              <a:spcAft>
                <a:spcPts val="500"/>
              </a:spcAft>
              <a:defRPr sz="1300" b="0">
                <a:solidFill>
                  <a:srgbClr val="F1F6FC"/>
                </a:solidFill>
                <a:latin typeface="Aptos"/>
              </a:defRPr>
            </a:pPr>
            <a:r>
              <a:t>Status: Open / Investigating / Resolved</a:t>
            </a:r>
          </a:p>
          <a:p>
            <a:pPr>
              <a:spcAft>
                <a:spcPts val="500"/>
              </a:spcAft>
              <a:defRPr sz="1300" b="0">
                <a:solidFill>
                  <a:srgbClr val="F1F6FC"/>
                </a:solidFill>
                <a:latin typeface="Aptos"/>
              </a:defRPr>
            </a:pPr>
            <a:r>
              <a:t>Affected host/account: [actual values]</a:t>
            </a:r>
          </a:p>
          <a:p>
            <a:pPr>
              <a:spcAft>
                <a:spcPts val="500"/>
              </a:spcAft>
              <a:defRPr sz="1300" b="0">
                <a:solidFill>
                  <a:srgbClr val="F1F6FC"/>
                </a:solidFill>
                <a:latin typeface="Aptos"/>
              </a:defRPr>
            </a:pPr>
            <a:r>
              <a:t>Detection source: Wazuh / Snort / local logs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1371600"/>
            <a:ext cx="48463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DD4DC"/>
                </a:solidFill>
                <a:latin typeface="Aptos"/>
              </a:defRPr>
            </a:pPr>
            <a:r>
              <a:t>EVIDENCE &amp; 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1828800"/>
            <a:ext cx="4846320" cy="23774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F1F6FC"/>
                </a:solidFill>
                <a:latin typeface="Aptos"/>
              </a:defRPr>
            </a:pPr>
            <a:r>
              <a:t>Timeline: [timestamps + time zone]</a:t>
            </a:r>
          </a:p>
          <a:p>
            <a:pPr>
              <a:spcAft>
                <a:spcPts val="500"/>
              </a:spcAft>
              <a:defRPr sz="1300" b="0">
                <a:solidFill>
                  <a:srgbClr val="F1F6FC"/>
                </a:solidFill>
                <a:latin typeface="Aptos"/>
              </a:defRPr>
            </a:pPr>
            <a:r>
              <a:t>Evidence IDs: [EV-01, EV-02…]</a:t>
            </a:r>
          </a:p>
          <a:p>
            <a:pPr>
              <a:spcAft>
                <a:spcPts val="500"/>
              </a:spcAft>
              <a:defRPr sz="1300" b="0">
                <a:solidFill>
                  <a:srgbClr val="F1F6FC"/>
                </a:solidFill>
                <a:latin typeface="Aptos"/>
              </a:defRPr>
            </a:pPr>
            <a:r>
              <a:t>IOC: [actual values / not observed]</a:t>
            </a:r>
          </a:p>
          <a:p>
            <a:pPr>
              <a:spcAft>
                <a:spcPts val="500"/>
              </a:spcAft>
              <a:defRPr sz="1300" b="0">
                <a:solidFill>
                  <a:srgbClr val="F1F6FC"/>
                </a:solidFill>
                <a:latin typeface="Aptos"/>
              </a:defRPr>
            </a:pPr>
            <a:r>
              <a:t>Assessment: [true/false positive or inconclusive]</a:t>
            </a:r>
          </a:p>
          <a:p>
            <a:pPr>
              <a:spcAft>
                <a:spcPts val="500"/>
              </a:spcAft>
              <a:defRPr sz="1300" b="0">
                <a:solidFill>
                  <a:srgbClr val="F1F6FC"/>
                </a:solidFill>
                <a:latin typeface="Aptos"/>
              </a:defRPr>
            </a:pPr>
            <a:r>
              <a:t>Action taken: [actual action or pending]</a:t>
            </a:r>
          </a:p>
          <a:p>
            <a:pPr>
              <a:spcAft>
                <a:spcPts val="500"/>
              </a:spcAft>
              <a:defRPr sz="1300" b="0">
                <a:solidFill>
                  <a:srgbClr val="F1F6FC"/>
                </a:solidFill>
                <a:latin typeface="Aptos"/>
              </a:defRPr>
            </a:pPr>
            <a:r>
              <a:t>Next step / owner: [specific follow-up]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14400" y="4480560"/>
            <a:ext cx="10287000" cy="0"/>
          </a:xfrm>
          <a:prstGeom prst="line">
            <a:avLst/>
          </a:prstGeom>
          <a:ln w="12700">
            <a:solidFill>
              <a:srgbClr val="19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14400" y="4709160"/>
            <a:ext cx="9875520" cy="594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BE55"/>
                </a:solidFill>
                <a:latin typeface="Aptos"/>
              </a:defRPr>
            </a:pPr>
            <a:r>
              <a:t>Ticket quality test: another analyst should understand what happened, why severity was chosen, what evidence supports it and what remains to do.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897880"/>
            <a:ext cx="1051560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A9B8CC"/>
                </a:solidFill>
                <a:latin typeface="Aptos"/>
              </a:defRPr>
            </a:pPr>
            <a:r>
              <a:t>Do not mark resolved unless evidence and closure criteria support that status.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961120" cy="53035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1F6FC"/>
                </a:solidFill>
                <a:latin typeface="Aptos"/>
              </a:defRPr>
            </a:pPr>
            <a:r>
              <a:t>12 | Three Mini Response Playbooks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46920" y="310896"/>
            <a:ext cx="1965960" cy="310896"/>
          </a:xfrm>
          <a:prstGeom prst="roundRect">
            <a:avLst/>
          </a:prstGeom>
          <a:solidFill>
            <a:srgbClr val="192A43"/>
          </a:solidFill>
          <a:ln>
            <a:solidFill>
              <a:srgbClr val="2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74352" y="320040"/>
            <a:ext cx="1911095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500"/>
              </a:spcAft>
              <a:defRPr sz="900" b="1">
                <a:solidFill>
                  <a:srgbClr val="2DD4DC"/>
                </a:solidFill>
                <a:latin typeface="Aptos"/>
              </a:defRPr>
            </a:pPr>
            <a:r>
              <a:t>PLAYBOOKS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868680"/>
            <a:ext cx="11183112" cy="0"/>
          </a:xfrm>
          <a:prstGeom prst="line">
            <a:avLst/>
          </a:prstGeom>
          <a:ln w="12700">
            <a:solidFill>
              <a:srgbClr val="19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0352" y="6510528"/>
            <a:ext cx="68580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A9B8CC"/>
                </a:solidFill>
                <a:latin typeface="Aptos"/>
              </a:defRPr>
            </a:pPr>
            <a:r>
              <a:t>CYBER SECURITY INTERNSHIP • WEEK 11 SOC 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A9B8CC"/>
                </a:solidFill>
                <a:latin typeface="Aptos"/>
              </a:defRPr>
            </a:pPr>
            <a:r>
              <a:t>13/15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188720"/>
            <a:ext cx="3520440" cy="3429000"/>
          </a:xfrm>
          <a:prstGeom prst="roundRect">
            <a:avLst/>
          </a:prstGeom>
          <a:solidFill>
            <a:srgbClr val="131F34"/>
          </a:solidFill>
          <a:ln>
            <a:solidFill>
              <a:srgbClr val="19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188720"/>
            <a:ext cx="64008" cy="3429000"/>
          </a:xfrm>
          <a:prstGeom prst="rect">
            <a:avLst/>
          </a:prstGeom>
          <a:solidFill>
            <a:srgbClr val="FF6474"/>
          </a:solidFill>
          <a:ln>
            <a:solidFill>
              <a:srgbClr val="FF6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316736"/>
            <a:ext cx="320040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F6474"/>
                </a:solidFill>
                <a:latin typeface="Aptos"/>
              </a:defRPr>
            </a:pPr>
            <a:r>
              <a:t>A. MULTIPLE FAILED LOGINS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1755648"/>
            <a:ext cx="3200400" cy="27706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F1F6FC"/>
                </a:solidFill>
                <a:latin typeface="Aptos"/>
              </a:defRPr>
            </a:pPr>
            <a:r>
              <a:t>1  Capture source, account, host, count and time window</a:t>
            </a:r>
          </a:p>
          <a:p>
            <a:pPr>
              <a:spcAft>
                <a:spcPts val="500"/>
              </a:spcAft>
              <a:defRPr sz="1200" b="0">
                <a:solidFill>
                  <a:srgbClr val="F1F6FC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200" b="0">
                <a:solidFill>
                  <a:srgbClr val="F1F6FC"/>
                </a:solidFill>
                <a:latin typeface="Aptos"/>
              </a:defRPr>
            </a:pPr>
            <a:r>
              <a:t>2  Check one vs many accounts</a:t>
            </a:r>
          </a:p>
          <a:p>
            <a:pPr>
              <a:spcAft>
                <a:spcPts val="500"/>
              </a:spcAft>
              <a:defRPr sz="1200" b="0">
                <a:solidFill>
                  <a:srgbClr val="F1F6FC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200" b="0">
                <a:solidFill>
                  <a:srgbClr val="F1F6FC"/>
                </a:solidFill>
                <a:latin typeface="Aptos"/>
              </a:defRPr>
            </a:pPr>
            <a:r>
              <a:t>3  Look for successful login afterward</a:t>
            </a:r>
          </a:p>
          <a:p>
            <a:pPr>
              <a:spcAft>
                <a:spcPts val="500"/>
              </a:spcAft>
              <a:defRPr sz="1200" b="0">
                <a:solidFill>
                  <a:srgbClr val="F1F6FC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200" b="0">
                <a:solidFill>
                  <a:srgbClr val="F1F6FC"/>
                </a:solidFill>
                <a:latin typeface="Aptos"/>
              </a:defRPr>
            </a:pPr>
            <a:r>
              <a:t>4  Verify user, VPN/NAT, scanner or service account</a:t>
            </a:r>
          </a:p>
          <a:p>
            <a:pPr>
              <a:spcAft>
                <a:spcPts val="500"/>
              </a:spcAft>
              <a:defRPr sz="1200" b="0">
                <a:solidFill>
                  <a:srgbClr val="F1F6FC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200" b="0">
                <a:solidFill>
                  <a:srgbClr val="F1F6FC"/>
                </a:solidFill>
                <a:latin typeface="Aptos"/>
              </a:defRPr>
            </a:pPr>
            <a:r>
              <a:t>5  Escalate; contain account/session if risk is credible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188720"/>
            <a:ext cx="3520440" cy="3429000"/>
          </a:xfrm>
          <a:prstGeom prst="roundRect">
            <a:avLst/>
          </a:prstGeom>
          <a:solidFill>
            <a:srgbClr val="131F34"/>
          </a:solidFill>
          <a:ln>
            <a:solidFill>
              <a:srgbClr val="19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188720"/>
            <a:ext cx="64008" cy="3429000"/>
          </a:xfrm>
          <a:prstGeom prst="rect">
            <a:avLst/>
          </a:prstGeom>
          <a:solidFill>
            <a:srgbClr val="AB82FF"/>
          </a:solidFill>
          <a:ln>
            <a:solidFill>
              <a:srgbClr val="AB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316736"/>
            <a:ext cx="320040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AB82FF"/>
                </a:solidFill>
                <a:latin typeface="Aptos"/>
              </a:defRPr>
            </a:pPr>
            <a:r>
              <a:t>B. PORT SCAN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1755648"/>
            <a:ext cx="3200400" cy="27706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F1F6FC"/>
                </a:solidFill>
                <a:latin typeface="Aptos"/>
              </a:defRPr>
            </a:pPr>
            <a:r>
              <a:t>1  Record Snort message, SID, source, targets and ports</a:t>
            </a:r>
          </a:p>
          <a:p>
            <a:pPr>
              <a:spcAft>
                <a:spcPts val="500"/>
              </a:spcAft>
              <a:defRPr sz="1200" b="0">
                <a:solidFill>
                  <a:srgbClr val="F1F6FC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200" b="0">
                <a:solidFill>
                  <a:srgbClr val="F1F6FC"/>
                </a:solidFill>
                <a:latin typeface="Aptos"/>
              </a:defRPr>
            </a:pPr>
            <a:r>
              <a:t>2  Identify source owner and network path</a:t>
            </a:r>
          </a:p>
          <a:p>
            <a:pPr>
              <a:spcAft>
                <a:spcPts val="500"/>
              </a:spcAft>
              <a:defRPr sz="1200" b="0">
                <a:solidFill>
                  <a:srgbClr val="F1F6FC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200" b="0">
                <a:solidFill>
                  <a:srgbClr val="F1F6FC"/>
                </a:solidFill>
                <a:latin typeface="Aptos"/>
              </a:defRPr>
            </a:pPr>
            <a:r>
              <a:t>3  Confirm approved scan window / change ticket</a:t>
            </a:r>
          </a:p>
          <a:p>
            <a:pPr>
              <a:spcAft>
                <a:spcPts val="500"/>
              </a:spcAft>
              <a:defRPr sz="1200" b="0">
                <a:solidFill>
                  <a:srgbClr val="F1F6FC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200" b="0">
                <a:solidFill>
                  <a:srgbClr val="F1F6FC"/>
                </a:solidFill>
                <a:latin typeface="Aptos"/>
              </a:defRPr>
            </a:pPr>
            <a:r>
              <a:t>4  Check for follow-on exploit or login activity</a:t>
            </a:r>
          </a:p>
          <a:p>
            <a:pPr>
              <a:spcAft>
                <a:spcPts val="500"/>
              </a:spcAft>
              <a:defRPr sz="1200" b="0">
                <a:solidFill>
                  <a:srgbClr val="F1F6FC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200" b="0">
                <a:solidFill>
                  <a:srgbClr val="F1F6FC"/>
                </a:solidFill>
                <a:latin typeface="Aptos"/>
              </a:defRPr>
            </a:pPr>
            <a:r>
              <a:t>5  Document benign scan or restrict/escalate unauthorized activity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188720"/>
            <a:ext cx="3520440" cy="3429000"/>
          </a:xfrm>
          <a:prstGeom prst="roundRect">
            <a:avLst/>
          </a:prstGeom>
          <a:solidFill>
            <a:srgbClr val="131F34"/>
          </a:solidFill>
          <a:ln>
            <a:solidFill>
              <a:srgbClr val="19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188720"/>
            <a:ext cx="64008" cy="3429000"/>
          </a:xfrm>
          <a:prstGeom prst="rect">
            <a:avLst/>
          </a:prstGeom>
          <a:solidFill>
            <a:srgbClr val="2DD4DC"/>
          </a:solidFill>
          <a:ln>
            <a:solidFill>
              <a:srgbClr val="2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316736"/>
            <a:ext cx="320040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DD4DC"/>
                </a:solidFill>
                <a:latin typeface="Aptos"/>
              </a:defRPr>
            </a:pPr>
            <a:r>
              <a:t>C. SUSPICIOUS CHANGE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755648"/>
            <a:ext cx="3200400" cy="27706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F1F6FC"/>
                </a:solidFill>
                <a:latin typeface="Aptos"/>
              </a:defRPr>
            </a:pPr>
            <a:r>
              <a:t>1  Record file path, hash, process and timestamp</a:t>
            </a:r>
          </a:p>
          <a:p>
            <a:pPr>
              <a:spcAft>
                <a:spcPts val="500"/>
              </a:spcAft>
              <a:defRPr sz="1200" b="0">
                <a:solidFill>
                  <a:srgbClr val="F1F6FC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200" b="0">
                <a:solidFill>
                  <a:srgbClr val="F1F6FC"/>
                </a:solidFill>
                <a:latin typeface="Aptos"/>
              </a:defRPr>
            </a:pPr>
            <a:r>
              <a:t>2  Validate FIM coverage and change context</a:t>
            </a:r>
          </a:p>
          <a:p>
            <a:pPr>
              <a:spcAft>
                <a:spcPts val="500"/>
              </a:spcAft>
              <a:defRPr sz="1200" b="0">
                <a:solidFill>
                  <a:srgbClr val="F1F6FC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200" b="0">
                <a:solidFill>
                  <a:srgbClr val="F1F6FC"/>
                </a:solidFill>
                <a:latin typeface="Aptos"/>
              </a:defRPr>
            </a:pPr>
            <a:r>
              <a:t>3  Check user, parent process and nearby events</a:t>
            </a:r>
          </a:p>
          <a:p>
            <a:pPr>
              <a:spcAft>
                <a:spcPts val="500"/>
              </a:spcAft>
              <a:defRPr sz="1200" b="0">
                <a:solidFill>
                  <a:srgbClr val="F1F6FC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200" b="0">
                <a:solidFill>
                  <a:srgbClr val="F1F6FC"/>
                </a:solidFill>
                <a:latin typeface="Aptos"/>
              </a:defRPr>
            </a:pPr>
            <a:r>
              <a:t>4  Preserve evidence; avoid deleting prematurely</a:t>
            </a:r>
          </a:p>
          <a:p>
            <a:pPr>
              <a:spcAft>
                <a:spcPts val="500"/>
              </a:spcAft>
              <a:defRPr sz="1200" b="0">
                <a:solidFill>
                  <a:srgbClr val="F1F6FC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200" b="0">
                <a:solidFill>
                  <a:srgbClr val="F1F6FC"/>
                </a:solidFill>
                <a:latin typeface="Aptos"/>
              </a:defRPr>
            </a:pPr>
            <a:r>
              <a:t>5  Contain host or remove artifact under approved process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983480"/>
            <a:ext cx="10607040" cy="713232"/>
          </a:xfrm>
          <a:prstGeom prst="roundRect">
            <a:avLst/>
          </a:prstGeom>
          <a:solidFill>
            <a:srgbClr val="192A43"/>
          </a:solidFill>
          <a:ln>
            <a:solidFill>
              <a:srgbClr val="19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138928"/>
            <a:ext cx="10241280" cy="34747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F1F6FC"/>
                </a:solidFill>
                <a:latin typeface="Aptos"/>
              </a:defRPr>
            </a:pPr>
            <a:r>
              <a:t>For each playbook, document: trigger • verification • action • escalation criteria • closure conditions.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961120" cy="53035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1F6FC"/>
                </a:solidFill>
                <a:latin typeface="Aptos"/>
              </a:defRPr>
            </a:pPr>
            <a:r>
              <a:t>13 | Findings, Recommendations &amp; Limitations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46920" y="310896"/>
            <a:ext cx="1965960" cy="310896"/>
          </a:xfrm>
          <a:prstGeom prst="roundRect">
            <a:avLst/>
          </a:prstGeom>
          <a:solidFill>
            <a:srgbClr val="192A43"/>
          </a:solidFill>
          <a:ln>
            <a:solidFill>
              <a:srgbClr val="2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74352" y="320040"/>
            <a:ext cx="1911095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500"/>
              </a:spcAft>
              <a:defRPr sz="900" b="1">
                <a:solidFill>
                  <a:srgbClr val="2DD4DC"/>
                </a:solidFill>
                <a:latin typeface="Aptos"/>
              </a:defRPr>
            </a:pPr>
            <a:r>
              <a:t>FINDINGS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868680"/>
            <a:ext cx="11183112" cy="0"/>
          </a:xfrm>
          <a:prstGeom prst="line">
            <a:avLst/>
          </a:prstGeom>
          <a:ln w="12700">
            <a:solidFill>
              <a:srgbClr val="19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0352" y="6510528"/>
            <a:ext cx="68580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A9B8CC"/>
                </a:solidFill>
                <a:latin typeface="Aptos"/>
              </a:defRPr>
            </a:pPr>
            <a:r>
              <a:t>CYBER SECURITY INTERNSHIP • WEEK 11 SOC 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A9B8CC"/>
                </a:solidFill>
                <a:latin typeface="Aptos"/>
              </a:defRPr>
            </a:pPr>
            <a:r>
              <a:t>14/15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188720"/>
            <a:ext cx="3429000" cy="1920240"/>
          </a:xfrm>
          <a:prstGeom prst="roundRect">
            <a:avLst/>
          </a:prstGeom>
          <a:solidFill>
            <a:srgbClr val="131F34"/>
          </a:solidFill>
          <a:ln>
            <a:solidFill>
              <a:srgbClr val="19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188720"/>
            <a:ext cx="64008" cy="1920240"/>
          </a:xfrm>
          <a:prstGeom prst="rect">
            <a:avLst/>
          </a:prstGeom>
          <a:solidFill>
            <a:srgbClr val="2DD4DC"/>
          </a:solidFill>
          <a:ln>
            <a:solidFill>
              <a:srgbClr val="2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316736"/>
            <a:ext cx="310896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DD4DC"/>
                </a:solidFill>
                <a:latin typeface="Aptos"/>
              </a:defRPr>
            </a:pPr>
            <a:r>
              <a:t>LOGGING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755648"/>
            <a:ext cx="3108960" cy="126187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F1F6FC"/>
                </a:solidFill>
                <a:latin typeface="Aptos"/>
              </a:defRPr>
            </a:pPr>
            <a:r>
              <a:t>Confirm time synchronization, agent health, monitored paths and event retention.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188720"/>
            <a:ext cx="3429000" cy="1920240"/>
          </a:xfrm>
          <a:prstGeom prst="roundRect">
            <a:avLst/>
          </a:prstGeom>
          <a:solidFill>
            <a:srgbClr val="131F34"/>
          </a:solidFill>
          <a:ln>
            <a:solidFill>
              <a:srgbClr val="19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188720"/>
            <a:ext cx="64008" cy="1920240"/>
          </a:xfrm>
          <a:prstGeom prst="rect">
            <a:avLst/>
          </a:prstGeom>
          <a:solidFill>
            <a:srgbClr val="4F8CFF"/>
          </a:solidFill>
          <a:ln>
            <a:solidFill>
              <a:srgbClr val="4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316736"/>
            <a:ext cx="310896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4F8CFF"/>
                </a:solidFill>
                <a:latin typeface="Aptos"/>
              </a:defRPr>
            </a:pPr>
            <a:r>
              <a:t>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755648"/>
            <a:ext cx="3108960" cy="126187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F1F6FC"/>
                </a:solidFill>
                <a:latin typeface="Aptos"/>
              </a:defRPr>
            </a:pPr>
            <a:r>
              <a:t>Tune rules against baseline; test detection after configuration changes.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188720"/>
            <a:ext cx="3429000" cy="1920240"/>
          </a:xfrm>
          <a:prstGeom prst="roundRect">
            <a:avLst/>
          </a:prstGeom>
          <a:solidFill>
            <a:srgbClr val="131F34"/>
          </a:solidFill>
          <a:ln>
            <a:solidFill>
              <a:srgbClr val="19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188720"/>
            <a:ext cx="64008" cy="1920240"/>
          </a:xfrm>
          <a:prstGeom prst="rect">
            <a:avLst/>
          </a:prstGeom>
          <a:solidFill>
            <a:srgbClr val="AB82FF"/>
          </a:solidFill>
          <a:ln>
            <a:solidFill>
              <a:srgbClr val="AB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19" y="1316736"/>
            <a:ext cx="310896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AB82FF"/>
                </a:solidFill>
                <a:latin typeface="Aptos"/>
              </a:defRPr>
            </a:pPr>
            <a:r>
              <a:t>CORRELATION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1755648"/>
            <a:ext cx="3108960" cy="126187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F1F6FC"/>
                </a:solidFill>
                <a:latin typeface="Aptos"/>
              </a:defRPr>
            </a:pPr>
            <a:r>
              <a:t>Forward Snort logs only through a supported, documented integration path.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520440"/>
            <a:ext cx="10835640" cy="1508760"/>
          </a:xfrm>
          <a:prstGeom prst="roundRect">
            <a:avLst/>
          </a:prstGeom>
          <a:solidFill>
            <a:srgbClr val="131F34"/>
          </a:solidFill>
          <a:ln>
            <a:solidFill>
              <a:srgbClr val="19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703320"/>
            <a:ext cx="28346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FFBE55"/>
                </a:solidFill>
                <a:latin typeface="Aptos"/>
              </a:defRPr>
            </a:pPr>
            <a:r>
              <a:t>Record limitations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096512"/>
            <a:ext cx="9966960" cy="777240"/>
          </a:xfrm>
          <a:prstGeom prst="rect">
            <a:avLst/>
          </a:prstGeom>
          <a:noFill/>
        </p:spPr>
        <p:txBody>
          <a:bodyPr wrap="square" lIns="54864" tIns="27432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F1F6FC"/>
                </a:solidFill>
                <a:latin typeface="Aptos"/>
              </a:defRPr>
            </a:pPr>
            <a:r>
              <a:t>•  Missing telemetry, no matching event, time mismatch, limited packet visibility or unconfigured integration</a:t>
            </a:r>
          </a:p>
          <a:p>
            <a:pPr>
              <a:spcAft>
                <a:spcPts val="700"/>
              </a:spcAft>
              <a:defRPr sz="1200">
                <a:solidFill>
                  <a:srgbClr val="F1F6FC"/>
                </a:solidFill>
                <a:latin typeface="Aptos"/>
              </a:defRPr>
            </a:pPr>
            <a:r>
              <a:t>•  Separate observed facts from hypotheses; state confidence and what would confirm/refute the conclusion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394960"/>
            <a:ext cx="10424160" cy="594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F1F6FC"/>
                </a:solidFill>
                <a:latin typeface="Aptos"/>
              </a:defRPr>
            </a:pPr>
            <a:r>
              <a:t>Conclusion template: “During [time window], [source] showed [pattern]. Evidence [IDs] supports [assessment]. Gap: [uncertainty]. Next action: [action].”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94360"/>
            <a:ext cx="1645920" cy="310896"/>
          </a:xfrm>
          <a:prstGeom prst="roundRect">
            <a:avLst/>
          </a:prstGeom>
          <a:solidFill>
            <a:srgbClr val="192A43"/>
          </a:solidFill>
          <a:ln>
            <a:solidFill>
              <a:srgbClr val="2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603504"/>
            <a:ext cx="1591056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500"/>
              </a:spcAft>
              <a:defRPr sz="900" b="1">
                <a:solidFill>
                  <a:srgbClr val="2DD4DC"/>
                </a:solidFill>
                <a:latin typeface="Aptos"/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7315200" cy="731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F1F6FC"/>
                </a:solidFill>
                <a:latin typeface="Aptos"/>
              </a:defRPr>
            </a:pPr>
            <a:r>
              <a:t>A SOC analyst proves, not assumes.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57400"/>
            <a:ext cx="6583680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DD4DC"/>
                </a:solidFill>
                <a:latin typeface="Aptos"/>
              </a:defRPr>
            </a:pPr>
            <a:r>
              <a:t>Collect → Validate → Correlate → Classify → Respond → Learn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26080"/>
            <a:ext cx="3337560" cy="1417320"/>
          </a:xfrm>
          <a:prstGeom prst="roundRect">
            <a:avLst/>
          </a:prstGeom>
          <a:solidFill>
            <a:srgbClr val="131F34"/>
          </a:solidFill>
          <a:ln>
            <a:solidFill>
              <a:srgbClr val="19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926080"/>
            <a:ext cx="64008" cy="1417320"/>
          </a:xfrm>
          <a:prstGeom prst="rect">
            <a:avLst/>
          </a:prstGeom>
          <a:solidFill>
            <a:srgbClr val="4F8CFF"/>
          </a:solidFill>
          <a:ln>
            <a:solidFill>
              <a:srgbClr val="4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54096"/>
            <a:ext cx="3017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4F8CFF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93008"/>
            <a:ext cx="3017520" cy="75895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F1F6FC"/>
                </a:solidFill>
                <a:latin typeface="Aptos"/>
              </a:defRPr>
            </a:pPr>
            <a:r>
              <a:t>Use real timestamps, fields, rule IDs and SIDs.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926080"/>
            <a:ext cx="3337560" cy="1417320"/>
          </a:xfrm>
          <a:prstGeom prst="roundRect">
            <a:avLst/>
          </a:prstGeom>
          <a:solidFill>
            <a:srgbClr val="131F34"/>
          </a:solidFill>
          <a:ln>
            <a:solidFill>
              <a:srgbClr val="19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2926080"/>
            <a:ext cx="64008" cy="1417320"/>
          </a:xfrm>
          <a:prstGeom prst="rect">
            <a:avLst/>
          </a:prstGeom>
          <a:solidFill>
            <a:srgbClr val="AB82FF"/>
          </a:solidFill>
          <a:ln>
            <a:solidFill>
              <a:srgbClr val="AB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3054096"/>
            <a:ext cx="3017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AB82FF"/>
                </a:solidFill>
                <a:latin typeface="Aptos"/>
              </a:defRPr>
            </a:pPr>
            <a:r>
              <a:t>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493008"/>
            <a:ext cx="3017520" cy="75895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F1F6FC"/>
                </a:solidFill>
                <a:latin typeface="Aptos"/>
              </a:defRPr>
            </a:pPr>
            <a:r>
              <a:t>A single alert is not automatically an incident.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926080"/>
            <a:ext cx="3337560" cy="1417320"/>
          </a:xfrm>
          <a:prstGeom prst="roundRect">
            <a:avLst/>
          </a:prstGeom>
          <a:solidFill>
            <a:srgbClr val="131F34"/>
          </a:solidFill>
          <a:ln>
            <a:solidFill>
              <a:srgbClr val="19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2926080"/>
            <a:ext cx="64008" cy="1417320"/>
          </a:xfrm>
          <a:prstGeom prst="rect">
            <a:avLst/>
          </a:prstGeom>
          <a:solidFill>
            <a:srgbClr val="48D597"/>
          </a:solidFill>
          <a:ln>
            <a:solidFill>
              <a:srgbClr val="48D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3054096"/>
            <a:ext cx="3017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48D597"/>
                </a:solidFill>
                <a:latin typeface="Aptos"/>
              </a:defRPr>
            </a:pPr>
            <a:r>
              <a:t>TRANSPARENCY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493008"/>
            <a:ext cx="3017520" cy="75895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F1F6FC"/>
                </a:solidFill>
                <a:latin typeface="Aptos"/>
              </a:defRPr>
            </a:pPr>
            <a:r>
              <a:t>Document non-matches and limitations honestly.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800600"/>
            <a:ext cx="10744200" cy="749808"/>
          </a:xfrm>
          <a:prstGeom prst="roundRect">
            <a:avLst/>
          </a:prstGeom>
          <a:solidFill>
            <a:srgbClr val="192A43"/>
          </a:solidFill>
          <a:ln>
            <a:solidFill>
              <a:srgbClr val="19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983480"/>
            <a:ext cx="1033272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500"/>
              </a:spcAft>
              <a:defRPr sz="1900" b="1">
                <a:solidFill>
                  <a:srgbClr val="F1F6FC"/>
                </a:solidFill>
                <a:latin typeface="Aptos"/>
              </a:defRPr>
            </a:pPr>
            <a:r>
              <a:t>Questions &amp; discussion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989320"/>
            <a:ext cx="104241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A9B8CC"/>
                </a:solidFill>
                <a:latin typeface="Aptos"/>
              </a:defRPr>
            </a:pPr>
            <a:r>
              <a:t>Week 11 • SOC Threat Detection, Alert Correlation &amp; Incident Response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A9B8CC"/>
                </a:solidFill>
                <a:latin typeface="Aptos"/>
              </a:defRPr>
            </a:pPr>
            <a:r>
              <a:t>15/15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